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365760"/>
            <a:ext cx="2926080" cy="2926080"/>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4937760"/>
            <a:ext cx="2011680" cy="2011680"/>
          </a:xfrm>
          <a:prstGeom prst="ellipse">
            <a:avLst/>
          </a:prstGeom>
          <a:solidFill>
            <a:srgbClr val="EF7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303520"/>
            <a:ext cx="2103120" cy="2103120"/>
          </a:xfrm>
          <a:prstGeom prst="ellipse">
            <a:avLst/>
          </a:prstGeom>
          <a:solidFill>
            <a:srgbClr val="F5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2743200" cy="320040"/>
          </a:xfrm>
          <a:prstGeom prst="rect">
            <a:avLst/>
          </a:prstGeom>
          <a:noFill/>
        </p:spPr>
        <p:txBody>
          <a:bodyPr wrap="none">
            <a:spAutoFit/>
          </a:bodyPr>
          <a:lstStyle/>
          <a:p>
            <a:pPr>
              <a:defRPr sz="1200" b="1">
                <a:solidFill>
                  <a:srgbClr val="F5B848"/>
                </a:solidFill>
              </a:defRPr>
            </a:pPr>
            <a:r>
              <a:t>DBMS MINI PROJECT</a:t>
            </a:r>
          </a:p>
        </p:txBody>
      </p:sp>
      <p:sp>
        <p:nvSpPr>
          <p:cNvPr id="7" name="TextBox 6"/>
          <p:cNvSpPr txBox="1"/>
          <p:nvPr/>
        </p:nvSpPr>
        <p:spPr>
          <a:xfrm>
            <a:off x="731520" y="1417320"/>
            <a:ext cx="9875520" cy="1463040"/>
          </a:xfrm>
          <a:prstGeom prst="rect">
            <a:avLst/>
          </a:prstGeom>
          <a:noFill/>
        </p:spPr>
        <p:txBody>
          <a:bodyPr wrap="none">
            <a:spAutoFit/>
          </a:bodyPr>
          <a:lstStyle/>
          <a:p>
            <a:pPr>
              <a:defRPr sz="5200" b="1">
                <a:solidFill>
                  <a:srgbClr val="FFFFFF"/>
                </a:solidFill>
                <a:latin typeface="Aptos Display"/>
              </a:defRPr>
            </a:pPr>
            <a:r>
              <a:t>FoodFlow</a:t>
            </a:r>
          </a:p>
          <a:p>
            <a:pPr>
              <a:defRPr sz="3100" b="1">
                <a:solidFill>
                  <a:srgbClr val="FFDCC7"/>
                </a:solidFill>
                <a:latin typeface="Aptos Display"/>
              </a:defRPr>
            </a:pPr>
            <a:r>
              <a:t>Online Food Delivery Platform</a:t>
            </a:r>
          </a:p>
        </p:txBody>
      </p:sp>
      <p:sp>
        <p:nvSpPr>
          <p:cNvPr id="8" name="TextBox 7"/>
          <p:cNvSpPr txBox="1"/>
          <p:nvPr/>
        </p:nvSpPr>
        <p:spPr>
          <a:xfrm>
            <a:off x="749808" y="3154680"/>
            <a:ext cx="8046720" cy="822960"/>
          </a:xfrm>
          <a:prstGeom prst="rect">
            <a:avLst/>
          </a:prstGeom>
          <a:noFill/>
        </p:spPr>
        <p:txBody>
          <a:bodyPr wrap="none">
            <a:spAutoFit/>
          </a:bodyPr>
          <a:lstStyle/>
          <a:p>
            <a:pPr>
              <a:defRPr sz="1800">
                <a:solidFill>
                  <a:srgbClr val="DCD7D2"/>
                </a:solidFill>
              </a:defRPr>
            </a:pPr>
            <a:r>
              <a:t>A user-friendly digital platform connecting customers, restaurants and delivery operations.</a:t>
            </a:r>
          </a:p>
        </p:txBody>
      </p:sp>
      <p:sp>
        <p:nvSpPr>
          <p:cNvPr id="9" name="TextBox 8"/>
          <p:cNvSpPr txBox="1"/>
          <p:nvPr/>
        </p:nvSpPr>
        <p:spPr>
          <a:xfrm>
            <a:off x="749808" y="4892040"/>
            <a:ext cx="6400800" cy="1097280"/>
          </a:xfrm>
          <a:prstGeom prst="rect">
            <a:avLst/>
          </a:prstGeom>
          <a:noFill/>
        </p:spPr>
        <p:txBody>
          <a:bodyPr wrap="none">
            <a:spAutoFit/>
          </a:bodyPr>
          <a:lstStyle/>
          <a:p>
            <a:pPr>
              <a:spcAft>
                <a:spcPts val="600"/>
              </a:spcAft>
              <a:defRPr sz="1300">
                <a:solidFill>
                  <a:srgbClr val="FFFFFF"/>
                </a:solidFill>
                <a:latin typeface="Aptos"/>
              </a:defRPr>
            </a:pPr>
            <a:r>
              <a:t>2520090201 – M Vijayalakshmi</a:t>
            </a:r>
          </a:p>
          <a:p>
            <a:pPr>
              <a:spcAft>
                <a:spcPts val="600"/>
              </a:spcAft>
              <a:defRPr sz="1300">
                <a:solidFill>
                  <a:srgbClr val="FFFFFF"/>
                </a:solidFill>
                <a:latin typeface="Aptos"/>
              </a:defRPr>
            </a:pPr>
            <a:r>
              <a:t>2520090211 – P Shashanth</a:t>
            </a:r>
          </a:p>
          <a:p>
            <a:pPr>
              <a:spcAft>
                <a:spcPts val="600"/>
              </a:spcAft>
              <a:defRPr sz="1300">
                <a:solidFill>
                  <a:srgbClr val="FFFFFF"/>
                </a:solidFill>
                <a:latin typeface="Aptos"/>
              </a:defRPr>
            </a:pPr>
            <a:r>
              <a:t>2520090102 – D Pawan Kumar</a:t>
            </a:r>
          </a:p>
        </p:txBody>
      </p:sp>
      <p:sp>
        <p:nvSpPr>
          <p:cNvPr id="10" name="Oval 9"/>
          <p:cNvSpPr/>
          <p:nvPr/>
        </p:nvSpPr>
        <p:spPr>
          <a:xfrm>
            <a:off x="8686800" y="1828800"/>
            <a:ext cx="2011680" cy="20116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148840"/>
            <a:ext cx="2011680" cy="1188720"/>
          </a:xfrm>
          <a:prstGeom prst="rect">
            <a:avLst/>
          </a:prstGeom>
          <a:noFill/>
        </p:spPr>
        <p:txBody>
          <a:bodyPr wrap="none">
            <a:spAutoFit/>
          </a:bodyPr>
          <a:lstStyle/>
          <a:p>
            <a:pPr algn="ctr">
              <a:defRPr sz="6500"/>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1. Project Overview</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What the platform solves and who benefits</a:t>
            </a:r>
          </a:p>
        </p:txBody>
      </p:sp>
      <p:sp>
        <p:nvSpPr>
          <p:cNvPr id="6" name="Rounded Rectangle 5"/>
          <p:cNvSpPr/>
          <p:nvPr/>
        </p:nvSpPr>
        <p:spPr>
          <a:xfrm>
            <a:off x="640080" y="1325880"/>
            <a:ext cx="1920240" cy="347472"/>
          </a:xfrm>
          <a:prstGeom prst="roundRect">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35024"/>
            <a:ext cx="1920240" cy="292608"/>
          </a:xfrm>
          <a:prstGeom prst="rect">
            <a:avLst/>
          </a:prstGeom>
          <a:noFill/>
        </p:spPr>
        <p:txBody>
          <a:bodyPr wrap="none">
            <a:spAutoFit/>
          </a:bodyPr>
          <a:lstStyle/>
          <a:p>
            <a:pPr algn="ctr">
              <a:defRPr sz="1000" b="1">
                <a:solidFill>
                  <a:srgbClr val="C23921"/>
                </a:solidFill>
                <a:latin typeface="Aptos"/>
              </a:defRPr>
            </a:pPr>
            <a:r>
              <a:t>PROJECT CLARITY</a:t>
            </a:r>
          </a:p>
        </p:txBody>
      </p:sp>
      <p:sp>
        <p:nvSpPr>
          <p:cNvPr id="8" name="Rounded Rectangle 7"/>
          <p:cNvSpPr/>
          <p:nvPr/>
        </p:nvSpPr>
        <p:spPr>
          <a:xfrm>
            <a:off x="640080" y="1874519"/>
            <a:ext cx="3520440" cy="33375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04671" y="20391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048255"/>
            <a:ext cx="438912" cy="384048"/>
          </a:xfrm>
          <a:prstGeom prst="rect">
            <a:avLst/>
          </a:prstGeom>
          <a:noFill/>
        </p:spPr>
        <p:txBody>
          <a:bodyPr wrap="none">
            <a:spAutoFit/>
          </a:bodyPr>
          <a:lstStyle/>
          <a:p>
            <a:pPr algn="ctr">
              <a:defRPr sz="1800" b="1">
                <a:solidFill>
                  <a:srgbClr val="C23921"/>
                </a:solidFill>
              </a:defRPr>
            </a:pPr>
            <a:r>
              <a:t>👤</a:t>
            </a:r>
          </a:p>
        </p:txBody>
      </p:sp>
      <p:sp>
        <p:nvSpPr>
          <p:cNvPr id="11" name="TextBox 10"/>
          <p:cNvSpPr txBox="1"/>
          <p:nvPr/>
        </p:nvSpPr>
        <p:spPr>
          <a:xfrm>
            <a:off x="1353312" y="2039112"/>
            <a:ext cx="2624328" cy="411480"/>
          </a:xfrm>
          <a:prstGeom prst="rect">
            <a:avLst/>
          </a:prstGeom>
          <a:noFill/>
        </p:spPr>
        <p:txBody>
          <a:bodyPr wrap="none">
            <a:spAutoFit/>
          </a:bodyPr>
          <a:lstStyle/>
          <a:p>
            <a:pPr>
              <a:defRPr sz="1600" b="1">
                <a:solidFill>
                  <a:srgbClr val="C23921"/>
                </a:solidFill>
                <a:latin typeface="Aptos"/>
              </a:defRPr>
            </a:pPr>
            <a:r>
              <a:t>Customer</a:t>
            </a:r>
          </a:p>
        </p:txBody>
      </p:sp>
      <p:sp>
        <p:nvSpPr>
          <p:cNvPr id="12" name="TextBox 11"/>
          <p:cNvSpPr txBox="1"/>
          <p:nvPr/>
        </p:nvSpPr>
        <p:spPr>
          <a:xfrm>
            <a:off x="841247" y="2560320"/>
            <a:ext cx="3118104" cy="2514600"/>
          </a:xfrm>
          <a:prstGeom prst="rect">
            <a:avLst/>
          </a:prstGeom>
          <a:noFill/>
        </p:spPr>
        <p:txBody>
          <a:bodyPr wrap="square">
            <a:spAutoFit/>
          </a:bodyPr>
          <a:lstStyle/>
          <a:p>
            <a:pPr>
              <a:defRPr sz="1250">
                <a:solidFill>
                  <a:srgbClr val="2D2623"/>
                </a:solidFill>
                <a:latin typeface="Aptos"/>
              </a:defRPr>
            </a:pPr>
            <a:r>
              <a:t>Browse restaurants and menus, add items to cart, place orders, make payments, track order status and share orders with a group.</a:t>
            </a:r>
          </a:p>
        </p:txBody>
      </p:sp>
      <p:sp>
        <p:nvSpPr>
          <p:cNvPr id="13" name="Rounded Rectangle 12"/>
          <p:cNvSpPr/>
          <p:nvPr/>
        </p:nvSpPr>
        <p:spPr>
          <a:xfrm>
            <a:off x="4343400" y="1874519"/>
            <a:ext cx="3520440" cy="33375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7992" y="20391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2048255"/>
            <a:ext cx="438912" cy="384048"/>
          </a:xfrm>
          <a:prstGeom prst="rect">
            <a:avLst/>
          </a:prstGeom>
          <a:noFill/>
        </p:spPr>
        <p:txBody>
          <a:bodyPr wrap="none">
            <a:spAutoFit/>
          </a:bodyPr>
          <a:lstStyle/>
          <a:p>
            <a:pPr algn="ctr">
              <a:defRPr sz="1800" b="1">
                <a:solidFill>
                  <a:srgbClr val="C23921"/>
                </a:solidFill>
              </a:defRPr>
            </a:pPr>
            <a:r>
              <a:t>🍴</a:t>
            </a:r>
          </a:p>
        </p:txBody>
      </p:sp>
      <p:sp>
        <p:nvSpPr>
          <p:cNvPr id="16" name="TextBox 15"/>
          <p:cNvSpPr txBox="1"/>
          <p:nvPr/>
        </p:nvSpPr>
        <p:spPr>
          <a:xfrm>
            <a:off x="5056632" y="2039112"/>
            <a:ext cx="2624327" cy="411480"/>
          </a:xfrm>
          <a:prstGeom prst="rect">
            <a:avLst/>
          </a:prstGeom>
          <a:noFill/>
        </p:spPr>
        <p:txBody>
          <a:bodyPr wrap="none">
            <a:spAutoFit/>
          </a:bodyPr>
          <a:lstStyle/>
          <a:p>
            <a:pPr>
              <a:defRPr sz="1600" b="1">
                <a:solidFill>
                  <a:srgbClr val="C23921"/>
                </a:solidFill>
                <a:latin typeface="Aptos"/>
              </a:defRPr>
            </a:pPr>
            <a:r>
              <a:t>Restaurant</a:t>
            </a:r>
          </a:p>
        </p:txBody>
      </p:sp>
      <p:sp>
        <p:nvSpPr>
          <p:cNvPr id="17" name="TextBox 16"/>
          <p:cNvSpPr txBox="1"/>
          <p:nvPr/>
        </p:nvSpPr>
        <p:spPr>
          <a:xfrm>
            <a:off x="4544568" y="2560320"/>
            <a:ext cx="3118104" cy="2514600"/>
          </a:xfrm>
          <a:prstGeom prst="rect">
            <a:avLst/>
          </a:prstGeom>
          <a:noFill/>
        </p:spPr>
        <p:txBody>
          <a:bodyPr wrap="square">
            <a:spAutoFit/>
          </a:bodyPr>
          <a:lstStyle/>
          <a:p>
            <a:pPr>
              <a:defRPr sz="1250">
                <a:solidFill>
                  <a:srgbClr val="2D2623"/>
                </a:solidFill>
                <a:latin typeface="Aptos"/>
              </a:defRPr>
            </a:pPr>
            <a:r>
              <a:t>Manage menu items, receive customer orders, update preparation status and monitor order activity.</a:t>
            </a:r>
          </a:p>
        </p:txBody>
      </p:sp>
      <p:sp>
        <p:nvSpPr>
          <p:cNvPr id="18" name="Rounded Rectangle 17"/>
          <p:cNvSpPr/>
          <p:nvPr/>
        </p:nvSpPr>
        <p:spPr>
          <a:xfrm>
            <a:off x="8046720" y="1874519"/>
            <a:ext cx="3520440" cy="33375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11312" y="20391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048255"/>
            <a:ext cx="438912" cy="384048"/>
          </a:xfrm>
          <a:prstGeom prst="rect">
            <a:avLst/>
          </a:prstGeom>
          <a:noFill/>
        </p:spPr>
        <p:txBody>
          <a:bodyPr wrap="none">
            <a:spAutoFit/>
          </a:bodyPr>
          <a:lstStyle/>
          <a:p>
            <a:pPr algn="ctr">
              <a:defRPr sz="1800" b="1">
                <a:solidFill>
                  <a:srgbClr val="C23921"/>
                </a:solidFill>
              </a:defRPr>
            </a:pPr>
            <a:r>
              <a:t>🚴</a:t>
            </a:r>
          </a:p>
        </p:txBody>
      </p:sp>
      <p:sp>
        <p:nvSpPr>
          <p:cNvPr id="21" name="TextBox 20"/>
          <p:cNvSpPr txBox="1"/>
          <p:nvPr/>
        </p:nvSpPr>
        <p:spPr>
          <a:xfrm>
            <a:off x="8759952" y="2039112"/>
            <a:ext cx="2624328" cy="411480"/>
          </a:xfrm>
          <a:prstGeom prst="rect">
            <a:avLst/>
          </a:prstGeom>
          <a:noFill/>
        </p:spPr>
        <p:txBody>
          <a:bodyPr wrap="none">
            <a:spAutoFit/>
          </a:bodyPr>
          <a:lstStyle/>
          <a:p>
            <a:pPr>
              <a:defRPr sz="1600" b="1">
                <a:solidFill>
                  <a:srgbClr val="C23921"/>
                </a:solidFill>
                <a:latin typeface="Aptos"/>
              </a:defRPr>
            </a:pPr>
            <a:r>
              <a:t>Delivery &amp; Admin</a:t>
            </a:r>
          </a:p>
        </p:txBody>
      </p:sp>
      <p:sp>
        <p:nvSpPr>
          <p:cNvPr id="22" name="TextBox 21"/>
          <p:cNvSpPr txBox="1"/>
          <p:nvPr/>
        </p:nvSpPr>
        <p:spPr>
          <a:xfrm>
            <a:off x="8247888" y="2560320"/>
            <a:ext cx="3118104" cy="2514600"/>
          </a:xfrm>
          <a:prstGeom prst="rect">
            <a:avLst/>
          </a:prstGeom>
          <a:noFill/>
        </p:spPr>
        <p:txBody>
          <a:bodyPr wrap="square">
            <a:spAutoFit/>
          </a:bodyPr>
          <a:lstStyle/>
          <a:p>
            <a:pPr>
              <a:defRPr sz="1250">
                <a:solidFill>
                  <a:srgbClr val="2D2623"/>
                </a:solidFill>
                <a:latin typeface="Aptos"/>
              </a:defRPr>
            </a:pPr>
            <a:r>
              <a:t>Coordinate delivery, monitor platform activity, support users and view operational information.</a:t>
            </a:r>
          </a:p>
        </p:txBody>
      </p:sp>
      <p:sp>
        <p:nvSpPr>
          <p:cNvPr id="23" name="TextBox 22"/>
          <p:cNvSpPr txBox="1"/>
          <p:nvPr/>
        </p:nvSpPr>
        <p:spPr>
          <a:xfrm>
            <a:off x="731520" y="5577840"/>
            <a:ext cx="10789920" cy="502920"/>
          </a:xfrm>
          <a:prstGeom prst="rect">
            <a:avLst/>
          </a:prstGeom>
          <a:noFill/>
        </p:spPr>
        <p:txBody>
          <a:bodyPr wrap="none">
            <a:spAutoFit/>
          </a:bodyPr>
          <a:lstStyle/>
          <a:p>
            <a:pPr>
              <a:defRPr sz="1500" b="1">
                <a:solidFill>
                  <a:srgbClr val="C23921"/>
                </a:solidFill>
              </a:defRPr>
            </a:pPr>
            <a:r>
              <a:t>Core idea: one platform → one connected ordering journey → better convenience and operational visibility.</a:t>
            </a:r>
          </a:p>
        </p:txBody>
      </p:sp>
      <p:sp>
        <p:nvSpPr>
          <p:cNvPr id="24" name="TextBox 23"/>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2. Problem Statement &amp; Societal Need</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Why an integrated food delivery platform is relevant</a:t>
            </a:r>
          </a:p>
        </p:txBody>
      </p:sp>
      <p:sp>
        <p:nvSpPr>
          <p:cNvPr id="6" name="TextBox 5"/>
          <p:cNvSpPr txBox="1"/>
          <p:nvPr/>
        </p:nvSpPr>
        <p:spPr>
          <a:xfrm>
            <a:off x="822960" y="1417320"/>
            <a:ext cx="6675120" cy="4480560"/>
          </a:xfrm>
          <a:prstGeom prst="rect">
            <a:avLst/>
          </a:prstGeom>
          <a:noFill/>
        </p:spPr>
        <p:txBody>
          <a:bodyPr wrap="square" lIns="18288" rIns="18288" tIns="18288" bIns="18288">
            <a:spAutoFit/>
          </a:bodyPr>
          <a:lstStyle/>
          <a:p>
            <a:pPr>
              <a:spcAft>
                <a:spcPts val="800"/>
              </a:spcAft>
              <a:defRPr sz="1600">
                <a:solidFill>
                  <a:srgbClr val="2D2623"/>
                </a:solidFill>
                <a:latin typeface="Aptos"/>
              </a:defRPr>
            </a:pPr>
            <a:r>
              <a:t>Customers often switch between restaurant discovery, ordering, payment and delivery-status channels.</a:t>
            </a:r>
          </a:p>
          <a:p>
            <a:pPr>
              <a:spcAft>
                <a:spcPts val="800"/>
              </a:spcAft>
              <a:defRPr sz="1600">
                <a:solidFill>
                  <a:srgbClr val="2D2623"/>
                </a:solidFill>
                <a:latin typeface="Aptos"/>
              </a:defRPr>
            </a:pPr>
            <a:r>
              <a:t>Restaurants need a simple digital way to manage menus and incoming orders.</a:t>
            </a:r>
          </a:p>
          <a:p>
            <a:pPr>
              <a:spcAft>
                <a:spcPts val="800"/>
              </a:spcAft>
              <a:defRPr sz="1600">
                <a:solidFill>
                  <a:srgbClr val="2D2623"/>
                </a:solidFill>
                <a:latin typeface="Aptos"/>
              </a:defRPr>
            </a:pPr>
            <a:r>
              <a:t>Group meals can create confusion when several people order together and need to split the bill.</a:t>
            </a:r>
          </a:p>
          <a:p>
            <a:pPr>
              <a:spcAft>
                <a:spcPts val="800"/>
              </a:spcAft>
              <a:defRPr sz="1600">
                <a:solidFill>
                  <a:srgbClr val="2D2623"/>
                </a:solidFill>
                <a:latin typeface="Aptos"/>
              </a:defRPr>
            </a:pPr>
            <a:r>
              <a:t>Customers expect faster status updates and transparent order progress.</a:t>
            </a:r>
          </a:p>
          <a:p>
            <a:pPr>
              <a:spcAft>
                <a:spcPts val="800"/>
              </a:spcAft>
              <a:defRPr sz="1600">
                <a:solidFill>
                  <a:srgbClr val="2D2623"/>
                </a:solidFill>
                <a:latin typeface="Aptos"/>
              </a:defRPr>
            </a:pPr>
            <a:r>
              <a:t>Local restaurants benefit from a digital channel that can extend their reach beyond walk-in customers.</a:t>
            </a:r>
          </a:p>
        </p:txBody>
      </p:sp>
      <p:sp>
        <p:nvSpPr>
          <p:cNvPr id="7" name="Rounded Rectangle 6"/>
          <p:cNvSpPr/>
          <p:nvPr/>
        </p:nvSpPr>
        <p:spPr>
          <a:xfrm>
            <a:off x="7818120" y="1371600"/>
            <a:ext cx="1920240" cy="347472"/>
          </a:xfrm>
          <a:prstGeom prst="roundRect">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380744"/>
            <a:ext cx="1920240" cy="292608"/>
          </a:xfrm>
          <a:prstGeom prst="rect">
            <a:avLst/>
          </a:prstGeom>
          <a:noFill/>
        </p:spPr>
        <p:txBody>
          <a:bodyPr wrap="none">
            <a:spAutoFit/>
          </a:bodyPr>
          <a:lstStyle/>
          <a:p>
            <a:pPr algn="ctr">
              <a:defRPr sz="1000" b="1">
                <a:solidFill>
                  <a:srgbClr val="C23921"/>
                </a:solidFill>
                <a:latin typeface="Aptos"/>
              </a:defRPr>
            </a:pPr>
            <a:r>
              <a:t>SOCIAL IMPACT</a:t>
            </a:r>
          </a:p>
        </p:txBody>
      </p:sp>
      <p:sp>
        <p:nvSpPr>
          <p:cNvPr id="9" name="Rounded Rectangle 8"/>
          <p:cNvSpPr/>
          <p:nvPr/>
        </p:nvSpPr>
        <p:spPr>
          <a:xfrm>
            <a:off x="7818120" y="1828800"/>
            <a:ext cx="3474720" cy="59436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1" y="1901952"/>
            <a:ext cx="1097280" cy="228600"/>
          </a:xfrm>
          <a:prstGeom prst="rect">
            <a:avLst/>
          </a:prstGeom>
          <a:noFill/>
        </p:spPr>
        <p:txBody>
          <a:bodyPr wrap="none">
            <a:spAutoFit/>
          </a:bodyPr>
          <a:lstStyle/>
          <a:p>
            <a:pPr>
              <a:defRPr sz="1150" b="1">
                <a:solidFill>
                  <a:srgbClr val="C23921"/>
                </a:solidFill>
              </a:defRPr>
            </a:pPr>
            <a:r>
              <a:t>Convenience</a:t>
            </a:r>
          </a:p>
        </p:txBody>
      </p:sp>
      <p:sp>
        <p:nvSpPr>
          <p:cNvPr id="11" name="TextBox 10"/>
          <p:cNvSpPr txBox="1"/>
          <p:nvPr/>
        </p:nvSpPr>
        <p:spPr>
          <a:xfrm>
            <a:off x="9098280" y="1901952"/>
            <a:ext cx="1920240" cy="347472"/>
          </a:xfrm>
          <a:prstGeom prst="rect">
            <a:avLst/>
          </a:prstGeom>
          <a:noFill/>
        </p:spPr>
        <p:txBody>
          <a:bodyPr wrap="none">
            <a:spAutoFit/>
          </a:bodyPr>
          <a:lstStyle/>
          <a:p>
            <a:pPr>
              <a:defRPr sz="1050">
                <a:solidFill>
                  <a:srgbClr val="2D2623"/>
                </a:solidFill>
              </a:defRPr>
            </a:pPr>
            <a:r>
              <a:t>Order from anywhere</a:t>
            </a:r>
          </a:p>
        </p:txBody>
      </p:sp>
      <p:sp>
        <p:nvSpPr>
          <p:cNvPr id="12" name="Rounded Rectangle 11"/>
          <p:cNvSpPr/>
          <p:nvPr/>
        </p:nvSpPr>
        <p:spPr>
          <a:xfrm>
            <a:off x="7818120" y="2587752"/>
            <a:ext cx="3474720" cy="59436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1" y="2660904"/>
            <a:ext cx="1097280" cy="228600"/>
          </a:xfrm>
          <a:prstGeom prst="rect">
            <a:avLst/>
          </a:prstGeom>
          <a:noFill/>
        </p:spPr>
        <p:txBody>
          <a:bodyPr wrap="none">
            <a:spAutoFit/>
          </a:bodyPr>
          <a:lstStyle/>
          <a:p>
            <a:pPr>
              <a:defRPr sz="1150" b="1">
                <a:solidFill>
                  <a:srgbClr val="C23921"/>
                </a:solidFill>
              </a:defRPr>
            </a:pPr>
            <a:r>
              <a:t>Accessibility</a:t>
            </a:r>
          </a:p>
        </p:txBody>
      </p:sp>
      <p:sp>
        <p:nvSpPr>
          <p:cNvPr id="14" name="TextBox 13"/>
          <p:cNvSpPr txBox="1"/>
          <p:nvPr/>
        </p:nvSpPr>
        <p:spPr>
          <a:xfrm>
            <a:off x="9098280" y="2660904"/>
            <a:ext cx="1920240" cy="347472"/>
          </a:xfrm>
          <a:prstGeom prst="rect">
            <a:avLst/>
          </a:prstGeom>
          <a:noFill/>
        </p:spPr>
        <p:txBody>
          <a:bodyPr wrap="none">
            <a:spAutoFit/>
          </a:bodyPr>
          <a:lstStyle/>
          <a:p>
            <a:pPr>
              <a:defRPr sz="1050">
                <a:solidFill>
                  <a:srgbClr val="2D2623"/>
                </a:solidFill>
              </a:defRPr>
            </a:pPr>
            <a:r>
              <a:t>Digital access to local food providers</a:t>
            </a:r>
          </a:p>
        </p:txBody>
      </p:sp>
      <p:sp>
        <p:nvSpPr>
          <p:cNvPr id="15" name="Rounded Rectangle 14"/>
          <p:cNvSpPr/>
          <p:nvPr/>
        </p:nvSpPr>
        <p:spPr>
          <a:xfrm>
            <a:off x="7818120" y="3346704"/>
            <a:ext cx="3474720" cy="59436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3419856"/>
            <a:ext cx="1097280" cy="228600"/>
          </a:xfrm>
          <a:prstGeom prst="rect">
            <a:avLst/>
          </a:prstGeom>
          <a:noFill/>
        </p:spPr>
        <p:txBody>
          <a:bodyPr wrap="none">
            <a:spAutoFit/>
          </a:bodyPr>
          <a:lstStyle/>
          <a:p>
            <a:pPr>
              <a:defRPr sz="1150" b="1">
                <a:solidFill>
                  <a:srgbClr val="C23921"/>
                </a:solidFill>
              </a:defRPr>
            </a:pPr>
            <a:r>
              <a:t>Efficiency</a:t>
            </a:r>
          </a:p>
        </p:txBody>
      </p:sp>
      <p:sp>
        <p:nvSpPr>
          <p:cNvPr id="17" name="TextBox 16"/>
          <p:cNvSpPr txBox="1"/>
          <p:nvPr/>
        </p:nvSpPr>
        <p:spPr>
          <a:xfrm>
            <a:off x="9098280" y="3419856"/>
            <a:ext cx="1920240" cy="347472"/>
          </a:xfrm>
          <a:prstGeom prst="rect">
            <a:avLst/>
          </a:prstGeom>
          <a:noFill/>
        </p:spPr>
        <p:txBody>
          <a:bodyPr wrap="none">
            <a:spAutoFit/>
          </a:bodyPr>
          <a:lstStyle/>
          <a:p>
            <a:pPr>
              <a:defRPr sz="1050">
                <a:solidFill>
                  <a:srgbClr val="2D2623"/>
                </a:solidFill>
              </a:defRPr>
            </a:pPr>
            <a:r>
              <a:t>Less manual order handling</a:t>
            </a:r>
          </a:p>
        </p:txBody>
      </p:sp>
      <p:sp>
        <p:nvSpPr>
          <p:cNvPr id="18" name="Rounded Rectangle 17"/>
          <p:cNvSpPr/>
          <p:nvPr/>
        </p:nvSpPr>
        <p:spPr>
          <a:xfrm>
            <a:off x="7818120" y="4105656"/>
            <a:ext cx="3474720" cy="59436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4178808"/>
            <a:ext cx="1097280" cy="228600"/>
          </a:xfrm>
          <a:prstGeom prst="rect">
            <a:avLst/>
          </a:prstGeom>
          <a:noFill/>
        </p:spPr>
        <p:txBody>
          <a:bodyPr wrap="none">
            <a:spAutoFit/>
          </a:bodyPr>
          <a:lstStyle/>
          <a:p>
            <a:pPr>
              <a:defRPr sz="1150" b="1">
                <a:solidFill>
                  <a:srgbClr val="C23921"/>
                </a:solidFill>
              </a:defRPr>
            </a:pPr>
            <a:r>
              <a:t>Transparency</a:t>
            </a:r>
          </a:p>
        </p:txBody>
      </p:sp>
      <p:sp>
        <p:nvSpPr>
          <p:cNvPr id="20" name="TextBox 19"/>
          <p:cNvSpPr txBox="1"/>
          <p:nvPr/>
        </p:nvSpPr>
        <p:spPr>
          <a:xfrm>
            <a:off x="9098280" y="4178808"/>
            <a:ext cx="1920240" cy="347472"/>
          </a:xfrm>
          <a:prstGeom prst="rect">
            <a:avLst/>
          </a:prstGeom>
          <a:noFill/>
        </p:spPr>
        <p:txBody>
          <a:bodyPr wrap="none">
            <a:spAutoFit/>
          </a:bodyPr>
          <a:lstStyle/>
          <a:p>
            <a:pPr>
              <a:defRPr sz="1050">
                <a:solidFill>
                  <a:srgbClr val="2D2623"/>
                </a:solidFill>
              </a:defRPr>
            </a:pPr>
            <a:r>
              <a:t>Clear order-status visibility</a:t>
            </a:r>
          </a:p>
        </p:txBody>
      </p:sp>
      <p:sp>
        <p:nvSpPr>
          <p:cNvPr id="21" name="Rounded Rectangle 20"/>
          <p:cNvSpPr/>
          <p:nvPr/>
        </p:nvSpPr>
        <p:spPr>
          <a:xfrm>
            <a:off x="7818120" y="4864608"/>
            <a:ext cx="3474720" cy="59436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8431" y="4937760"/>
            <a:ext cx="1097280" cy="228600"/>
          </a:xfrm>
          <a:prstGeom prst="rect">
            <a:avLst/>
          </a:prstGeom>
          <a:noFill/>
        </p:spPr>
        <p:txBody>
          <a:bodyPr wrap="none">
            <a:spAutoFit/>
          </a:bodyPr>
          <a:lstStyle/>
          <a:p>
            <a:pPr>
              <a:defRPr sz="1150" b="1">
                <a:solidFill>
                  <a:srgbClr val="C23921"/>
                </a:solidFill>
              </a:defRPr>
            </a:pPr>
            <a:r>
              <a:t>Collaboration</a:t>
            </a:r>
          </a:p>
        </p:txBody>
      </p:sp>
      <p:sp>
        <p:nvSpPr>
          <p:cNvPr id="23" name="TextBox 22"/>
          <p:cNvSpPr txBox="1"/>
          <p:nvPr/>
        </p:nvSpPr>
        <p:spPr>
          <a:xfrm>
            <a:off x="9098280" y="4937760"/>
            <a:ext cx="1920240" cy="347472"/>
          </a:xfrm>
          <a:prstGeom prst="rect">
            <a:avLst/>
          </a:prstGeom>
          <a:noFill/>
        </p:spPr>
        <p:txBody>
          <a:bodyPr wrap="none">
            <a:spAutoFit/>
          </a:bodyPr>
          <a:lstStyle/>
          <a:p>
            <a:pPr>
              <a:defRPr sz="1050">
                <a:solidFill>
                  <a:srgbClr val="2D2623"/>
                </a:solidFill>
              </a:defRPr>
            </a:pPr>
            <a:r>
              <a:t>Shared group ordering and bill splitting</a:t>
            </a:r>
          </a:p>
        </p:txBody>
      </p:sp>
      <p:sp>
        <p:nvSpPr>
          <p:cNvPr id="24" name="TextBox 23"/>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3. Objectives</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Clear, measurable goals for the proposed system</a:t>
            </a:r>
          </a:p>
        </p:txBody>
      </p:sp>
      <p:sp>
        <p:nvSpPr>
          <p:cNvPr id="6" name="Rounded Rectangle 5"/>
          <p:cNvSpPr/>
          <p:nvPr/>
        </p:nvSpPr>
        <p:spPr>
          <a:xfrm>
            <a:off x="640080" y="141732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1" y="15819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591056"/>
            <a:ext cx="438912" cy="384048"/>
          </a:xfrm>
          <a:prstGeom prst="rect">
            <a:avLst/>
          </a:prstGeom>
          <a:noFill/>
        </p:spPr>
        <p:txBody>
          <a:bodyPr wrap="none">
            <a:spAutoFit/>
          </a:bodyPr>
          <a:lstStyle/>
          <a:p>
            <a:pPr algn="ctr">
              <a:defRPr sz="1800" b="1">
                <a:solidFill>
                  <a:srgbClr val="C23921"/>
                </a:solidFill>
              </a:defRPr>
            </a:pPr>
            <a:r>
              <a:t>01</a:t>
            </a:r>
          </a:p>
        </p:txBody>
      </p:sp>
      <p:sp>
        <p:nvSpPr>
          <p:cNvPr id="9" name="TextBox 8"/>
          <p:cNvSpPr txBox="1"/>
          <p:nvPr/>
        </p:nvSpPr>
        <p:spPr>
          <a:xfrm>
            <a:off x="1353312" y="1581912"/>
            <a:ext cx="2532887" cy="411480"/>
          </a:xfrm>
          <a:prstGeom prst="rect">
            <a:avLst/>
          </a:prstGeom>
          <a:noFill/>
        </p:spPr>
        <p:txBody>
          <a:bodyPr wrap="none">
            <a:spAutoFit/>
          </a:bodyPr>
          <a:lstStyle/>
          <a:p>
            <a:pPr>
              <a:defRPr sz="1600" b="1">
                <a:solidFill>
                  <a:srgbClr val="C23921"/>
                </a:solidFill>
                <a:latin typeface="Aptos"/>
              </a:defRPr>
            </a:pPr>
            <a:r>
              <a:t>Simplify food discovery</a:t>
            </a:r>
          </a:p>
        </p:txBody>
      </p:sp>
      <p:sp>
        <p:nvSpPr>
          <p:cNvPr id="10" name="TextBox 9"/>
          <p:cNvSpPr txBox="1"/>
          <p:nvPr/>
        </p:nvSpPr>
        <p:spPr>
          <a:xfrm>
            <a:off x="841247" y="2103120"/>
            <a:ext cx="3026664" cy="1051560"/>
          </a:xfrm>
          <a:prstGeom prst="rect">
            <a:avLst/>
          </a:prstGeom>
          <a:noFill/>
        </p:spPr>
        <p:txBody>
          <a:bodyPr wrap="square">
            <a:spAutoFit/>
          </a:bodyPr>
          <a:lstStyle/>
          <a:p>
            <a:pPr>
              <a:defRPr sz="1250">
                <a:solidFill>
                  <a:srgbClr val="2D2623"/>
                </a:solidFill>
                <a:latin typeface="Aptos"/>
              </a:defRPr>
            </a:pPr>
            <a:r>
              <a:t>Provide restaurant and menu browsing through a single interface.</a:t>
            </a:r>
          </a:p>
        </p:txBody>
      </p:sp>
      <p:sp>
        <p:nvSpPr>
          <p:cNvPr id="11" name="Rounded Rectangle 10"/>
          <p:cNvSpPr/>
          <p:nvPr/>
        </p:nvSpPr>
        <p:spPr>
          <a:xfrm>
            <a:off x="4389120" y="141732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3712" y="15819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591056"/>
            <a:ext cx="438912" cy="384048"/>
          </a:xfrm>
          <a:prstGeom prst="rect">
            <a:avLst/>
          </a:prstGeom>
          <a:noFill/>
        </p:spPr>
        <p:txBody>
          <a:bodyPr wrap="none">
            <a:spAutoFit/>
          </a:bodyPr>
          <a:lstStyle/>
          <a:p>
            <a:pPr algn="ctr">
              <a:defRPr sz="1800" b="1">
                <a:solidFill>
                  <a:srgbClr val="C23921"/>
                </a:solidFill>
              </a:defRPr>
            </a:pPr>
            <a:r>
              <a:t>02</a:t>
            </a:r>
          </a:p>
        </p:txBody>
      </p:sp>
      <p:sp>
        <p:nvSpPr>
          <p:cNvPr id="14" name="TextBox 13"/>
          <p:cNvSpPr txBox="1"/>
          <p:nvPr/>
        </p:nvSpPr>
        <p:spPr>
          <a:xfrm>
            <a:off x="5102352" y="1581912"/>
            <a:ext cx="2532887" cy="411480"/>
          </a:xfrm>
          <a:prstGeom prst="rect">
            <a:avLst/>
          </a:prstGeom>
          <a:noFill/>
        </p:spPr>
        <p:txBody>
          <a:bodyPr wrap="none">
            <a:spAutoFit/>
          </a:bodyPr>
          <a:lstStyle/>
          <a:p>
            <a:pPr>
              <a:defRPr sz="1600" b="1">
                <a:solidFill>
                  <a:srgbClr val="C23921"/>
                </a:solidFill>
                <a:latin typeface="Aptos"/>
              </a:defRPr>
            </a:pPr>
            <a:r>
              <a:t>Streamline ordering</a:t>
            </a:r>
          </a:p>
        </p:txBody>
      </p:sp>
      <p:sp>
        <p:nvSpPr>
          <p:cNvPr id="15" name="TextBox 14"/>
          <p:cNvSpPr txBox="1"/>
          <p:nvPr/>
        </p:nvSpPr>
        <p:spPr>
          <a:xfrm>
            <a:off x="4590288" y="2103120"/>
            <a:ext cx="3026664" cy="1051560"/>
          </a:xfrm>
          <a:prstGeom prst="rect">
            <a:avLst/>
          </a:prstGeom>
          <a:noFill/>
        </p:spPr>
        <p:txBody>
          <a:bodyPr wrap="square">
            <a:spAutoFit/>
          </a:bodyPr>
          <a:lstStyle/>
          <a:p>
            <a:pPr>
              <a:defRPr sz="1250">
                <a:solidFill>
                  <a:srgbClr val="2D2623"/>
                </a:solidFill>
                <a:latin typeface="Aptos"/>
              </a:defRPr>
            </a:pPr>
            <a:r>
              <a:t>Support cart management, checkout and order placement.</a:t>
            </a:r>
          </a:p>
        </p:txBody>
      </p:sp>
      <p:sp>
        <p:nvSpPr>
          <p:cNvPr id="16" name="Rounded Rectangle 15"/>
          <p:cNvSpPr/>
          <p:nvPr/>
        </p:nvSpPr>
        <p:spPr>
          <a:xfrm>
            <a:off x="8138159" y="141732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02751" y="158191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1" y="1591056"/>
            <a:ext cx="438912" cy="384048"/>
          </a:xfrm>
          <a:prstGeom prst="rect">
            <a:avLst/>
          </a:prstGeom>
          <a:noFill/>
        </p:spPr>
        <p:txBody>
          <a:bodyPr wrap="none">
            <a:spAutoFit/>
          </a:bodyPr>
          <a:lstStyle/>
          <a:p>
            <a:pPr algn="ctr">
              <a:defRPr sz="1800" b="1">
                <a:solidFill>
                  <a:srgbClr val="C23921"/>
                </a:solidFill>
              </a:defRPr>
            </a:pPr>
            <a:r>
              <a:t>03</a:t>
            </a:r>
          </a:p>
        </p:txBody>
      </p:sp>
      <p:sp>
        <p:nvSpPr>
          <p:cNvPr id="19" name="TextBox 18"/>
          <p:cNvSpPr txBox="1"/>
          <p:nvPr/>
        </p:nvSpPr>
        <p:spPr>
          <a:xfrm>
            <a:off x="8851391" y="1581912"/>
            <a:ext cx="2532888" cy="411480"/>
          </a:xfrm>
          <a:prstGeom prst="rect">
            <a:avLst/>
          </a:prstGeom>
          <a:noFill/>
        </p:spPr>
        <p:txBody>
          <a:bodyPr wrap="none">
            <a:spAutoFit/>
          </a:bodyPr>
          <a:lstStyle/>
          <a:p>
            <a:pPr>
              <a:defRPr sz="1600" b="1">
                <a:solidFill>
                  <a:srgbClr val="C23921"/>
                </a:solidFill>
                <a:latin typeface="Aptos"/>
              </a:defRPr>
            </a:pPr>
            <a:r>
              <a:t>Improve visibility</a:t>
            </a:r>
          </a:p>
        </p:txBody>
      </p:sp>
      <p:sp>
        <p:nvSpPr>
          <p:cNvPr id="20" name="TextBox 19"/>
          <p:cNvSpPr txBox="1"/>
          <p:nvPr/>
        </p:nvSpPr>
        <p:spPr>
          <a:xfrm>
            <a:off x="8339327" y="2103120"/>
            <a:ext cx="3026664" cy="1051560"/>
          </a:xfrm>
          <a:prstGeom prst="rect">
            <a:avLst/>
          </a:prstGeom>
          <a:noFill/>
        </p:spPr>
        <p:txBody>
          <a:bodyPr wrap="square">
            <a:spAutoFit/>
          </a:bodyPr>
          <a:lstStyle/>
          <a:p>
            <a:pPr>
              <a:defRPr sz="1250">
                <a:solidFill>
                  <a:srgbClr val="2D2623"/>
                </a:solidFill>
                <a:latin typeface="Aptos"/>
              </a:defRPr>
            </a:pPr>
            <a:r>
              <a:t>Show order progress and delivery-related updates.</a:t>
            </a:r>
          </a:p>
        </p:txBody>
      </p:sp>
      <p:sp>
        <p:nvSpPr>
          <p:cNvPr id="21" name="Rounded Rectangle 20"/>
          <p:cNvSpPr/>
          <p:nvPr/>
        </p:nvSpPr>
        <p:spPr>
          <a:xfrm>
            <a:off x="640080" y="365760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1" y="3822191"/>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1" y="3831336"/>
            <a:ext cx="438912" cy="384048"/>
          </a:xfrm>
          <a:prstGeom prst="rect">
            <a:avLst/>
          </a:prstGeom>
          <a:noFill/>
        </p:spPr>
        <p:txBody>
          <a:bodyPr wrap="none">
            <a:spAutoFit/>
          </a:bodyPr>
          <a:lstStyle/>
          <a:p>
            <a:pPr algn="ctr">
              <a:defRPr sz="1800" b="1">
                <a:solidFill>
                  <a:srgbClr val="C23921"/>
                </a:solidFill>
              </a:defRPr>
            </a:pPr>
            <a:r>
              <a:t>04</a:t>
            </a:r>
          </a:p>
        </p:txBody>
      </p:sp>
      <p:sp>
        <p:nvSpPr>
          <p:cNvPr id="24" name="TextBox 23"/>
          <p:cNvSpPr txBox="1"/>
          <p:nvPr/>
        </p:nvSpPr>
        <p:spPr>
          <a:xfrm>
            <a:off x="1353312" y="3822191"/>
            <a:ext cx="2532887" cy="411480"/>
          </a:xfrm>
          <a:prstGeom prst="rect">
            <a:avLst/>
          </a:prstGeom>
          <a:noFill/>
        </p:spPr>
        <p:txBody>
          <a:bodyPr wrap="none">
            <a:spAutoFit/>
          </a:bodyPr>
          <a:lstStyle/>
          <a:p>
            <a:pPr>
              <a:defRPr sz="1600" b="1">
                <a:solidFill>
                  <a:srgbClr val="C23921"/>
                </a:solidFill>
                <a:latin typeface="Aptos"/>
              </a:defRPr>
            </a:pPr>
            <a:r>
              <a:t>Support restaurants</a:t>
            </a:r>
          </a:p>
        </p:txBody>
      </p:sp>
      <p:sp>
        <p:nvSpPr>
          <p:cNvPr id="25" name="TextBox 24"/>
          <p:cNvSpPr txBox="1"/>
          <p:nvPr/>
        </p:nvSpPr>
        <p:spPr>
          <a:xfrm>
            <a:off x="841247" y="4343400"/>
            <a:ext cx="3026664" cy="1051560"/>
          </a:xfrm>
          <a:prstGeom prst="rect">
            <a:avLst/>
          </a:prstGeom>
          <a:noFill/>
        </p:spPr>
        <p:txBody>
          <a:bodyPr wrap="square">
            <a:spAutoFit/>
          </a:bodyPr>
          <a:lstStyle/>
          <a:p>
            <a:pPr>
              <a:defRPr sz="1250">
                <a:solidFill>
                  <a:srgbClr val="2D2623"/>
                </a:solidFill>
                <a:latin typeface="Aptos"/>
              </a:defRPr>
            </a:pPr>
            <a:r>
              <a:t>Give restaurants tools to manage menu and orders.</a:t>
            </a:r>
          </a:p>
        </p:txBody>
      </p:sp>
      <p:sp>
        <p:nvSpPr>
          <p:cNvPr id="26" name="Rounded Rectangle 25"/>
          <p:cNvSpPr/>
          <p:nvPr/>
        </p:nvSpPr>
        <p:spPr>
          <a:xfrm>
            <a:off x="4389120" y="365760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53712" y="3822191"/>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3831336"/>
            <a:ext cx="438912" cy="384048"/>
          </a:xfrm>
          <a:prstGeom prst="rect">
            <a:avLst/>
          </a:prstGeom>
          <a:noFill/>
        </p:spPr>
        <p:txBody>
          <a:bodyPr wrap="none">
            <a:spAutoFit/>
          </a:bodyPr>
          <a:lstStyle/>
          <a:p>
            <a:pPr algn="ctr">
              <a:defRPr sz="1800" b="1">
                <a:solidFill>
                  <a:srgbClr val="C23921"/>
                </a:solidFill>
              </a:defRPr>
            </a:pPr>
            <a:r>
              <a:t>05</a:t>
            </a:r>
          </a:p>
        </p:txBody>
      </p:sp>
      <p:sp>
        <p:nvSpPr>
          <p:cNvPr id="29" name="TextBox 28"/>
          <p:cNvSpPr txBox="1"/>
          <p:nvPr/>
        </p:nvSpPr>
        <p:spPr>
          <a:xfrm>
            <a:off x="5102352" y="3822191"/>
            <a:ext cx="2532887" cy="411480"/>
          </a:xfrm>
          <a:prstGeom prst="rect">
            <a:avLst/>
          </a:prstGeom>
          <a:noFill/>
        </p:spPr>
        <p:txBody>
          <a:bodyPr wrap="none">
            <a:spAutoFit/>
          </a:bodyPr>
          <a:lstStyle/>
          <a:p>
            <a:pPr>
              <a:defRPr sz="1600" b="1">
                <a:solidFill>
                  <a:srgbClr val="C23921"/>
                </a:solidFill>
                <a:latin typeface="Aptos"/>
              </a:defRPr>
            </a:pPr>
            <a:r>
              <a:t>Enable group ordering</a:t>
            </a:r>
          </a:p>
        </p:txBody>
      </p:sp>
      <p:sp>
        <p:nvSpPr>
          <p:cNvPr id="30" name="TextBox 29"/>
          <p:cNvSpPr txBox="1"/>
          <p:nvPr/>
        </p:nvSpPr>
        <p:spPr>
          <a:xfrm>
            <a:off x="4590288" y="4343400"/>
            <a:ext cx="3026664" cy="1051560"/>
          </a:xfrm>
          <a:prstGeom prst="rect">
            <a:avLst/>
          </a:prstGeom>
          <a:noFill/>
        </p:spPr>
        <p:txBody>
          <a:bodyPr wrap="square">
            <a:spAutoFit/>
          </a:bodyPr>
          <a:lstStyle/>
          <a:p>
            <a:pPr>
              <a:defRPr sz="1250">
                <a:solidFill>
                  <a:srgbClr val="2D2623"/>
                </a:solidFill>
                <a:latin typeface="Aptos"/>
              </a:defRPr>
            </a:pPr>
            <a:r>
              <a:t>Allow shared carts, item ownership and split billing.</a:t>
            </a:r>
          </a:p>
        </p:txBody>
      </p:sp>
      <p:sp>
        <p:nvSpPr>
          <p:cNvPr id="31" name="Rounded Rectangle 30"/>
          <p:cNvSpPr/>
          <p:nvPr/>
        </p:nvSpPr>
        <p:spPr>
          <a:xfrm>
            <a:off x="8138159" y="3657600"/>
            <a:ext cx="3429000" cy="1874519"/>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302751" y="3822191"/>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02751" y="3831336"/>
            <a:ext cx="438912" cy="384048"/>
          </a:xfrm>
          <a:prstGeom prst="rect">
            <a:avLst/>
          </a:prstGeom>
          <a:noFill/>
        </p:spPr>
        <p:txBody>
          <a:bodyPr wrap="none">
            <a:spAutoFit/>
          </a:bodyPr>
          <a:lstStyle/>
          <a:p>
            <a:pPr algn="ctr">
              <a:defRPr sz="1800" b="1">
                <a:solidFill>
                  <a:srgbClr val="C23921"/>
                </a:solidFill>
              </a:defRPr>
            </a:pPr>
            <a:r>
              <a:t>06</a:t>
            </a:r>
          </a:p>
        </p:txBody>
      </p:sp>
      <p:sp>
        <p:nvSpPr>
          <p:cNvPr id="34" name="TextBox 33"/>
          <p:cNvSpPr txBox="1"/>
          <p:nvPr/>
        </p:nvSpPr>
        <p:spPr>
          <a:xfrm>
            <a:off x="8851391" y="3822191"/>
            <a:ext cx="2532888" cy="411480"/>
          </a:xfrm>
          <a:prstGeom prst="rect">
            <a:avLst/>
          </a:prstGeom>
          <a:noFill/>
        </p:spPr>
        <p:txBody>
          <a:bodyPr wrap="none">
            <a:spAutoFit/>
          </a:bodyPr>
          <a:lstStyle/>
          <a:p>
            <a:pPr>
              <a:defRPr sz="1600" b="1">
                <a:solidFill>
                  <a:srgbClr val="C23921"/>
                </a:solidFill>
                <a:latin typeface="Aptos"/>
              </a:defRPr>
            </a:pPr>
            <a:r>
              <a:t>Maintain secure access</a:t>
            </a:r>
          </a:p>
        </p:txBody>
      </p:sp>
      <p:sp>
        <p:nvSpPr>
          <p:cNvPr id="35" name="TextBox 34"/>
          <p:cNvSpPr txBox="1"/>
          <p:nvPr/>
        </p:nvSpPr>
        <p:spPr>
          <a:xfrm>
            <a:off x="8339327" y="4343400"/>
            <a:ext cx="3026664" cy="1051560"/>
          </a:xfrm>
          <a:prstGeom prst="rect">
            <a:avLst/>
          </a:prstGeom>
          <a:noFill/>
        </p:spPr>
        <p:txBody>
          <a:bodyPr wrap="square">
            <a:spAutoFit/>
          </a:bodyPr>
          <a:lstStyle/>
          <a:p>
            <a:pPr>
              <a:defRPr sz="1250">
                <a:solidFill>
                  <a:srgbClr val="2D2623"/>
                </a:solidFill>
                <a:latin typeface="Aptos"/>
              </a:defRPr>
            </a:pPr>
            <a:r>
              <a:t>Use role-based authentication and protected user actions.</a:t>
            </a:r>
          </a:p>
        </p:txBody>
      </p:sp>
      <p:sp>
        <p:nvSpPr>
          <p:cNvPr id="36" name="TextBox 35"/>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4. Project Feasibility Analysis</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A practical project aligned with the evaluation rubric</a:t>
            </a:r>
          </a:p>
        </p:txBody>
      </p:sp>
      <p:sp>
        <p:nvSpPr>
          <p:cNvPr id="6" name="Rounded Rectangle 5"/>
          <p:cNvSpPr/>
          <p:nvPr/>
        </p:nvSpPr>
        <p:spPr>
          <a:xfrm>
            <a:off x="731520" y="1417320"/>
            <a:ext cx="5166360" cy="182880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109728" cy="1828800"/>
          </a:xfrm>
          <a:prstGeom prst="rect">
            <a:avLst/>
          </a:prstGeom>
          <a:solidFill>
            <a:srgbClr val="31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45920"/>
            <a:ext cx="4480560" cy="411480"/>
          </a:xfrm>
          <a:prstGeom prst="rect">
            <a:avLst/>
          </a:prstGeom>
          <a:noFill/>
        </p:spPr>
        <p:txBody>
          <a:bodyPr wrap="none">
            <a:spAutoFit/>
          </a:bodyPr>
          <a:lstStyle/>
          <a:p>
            <a:pPr>
              <a:defRPr sz="1600" b="1">
                <a:solidFill>
                  <a:srgbClr val="31845B"/>
                </a:solidFill>
              </a:defRPr>
            </a:pPr>
            <a:r>
              <a:t>Technical Feasibility</a:t>
            </a:r>
          </a:p>
        </p:txBody>
      </p:sp>
      <p:sp>
        <p:nvSpPr>
          <p:cNvPr id="9" name="TextBox 8"/>
          <p:cNvSpPr txBox="1"/>
          <p:nvPr/>
        </p:nvSpPr>
        <p:spPr>
          <a:xfrm>
            <a:off x="1051560" y="2167128"/>
            <a:ext cx="4480560" cy="868680"/>
          </a:xfrm>
          <a:prstGeom prst="rect">
            <a:avLst/>
          </a:prstGeom>
          <a:noFill/>
        </p:spPr>
        <p:txBody>
          <a:bodyPr wrap="none">
            <a:spAutoFit/>
          </a:bodyPr>
          <a:lstStyle/>
          <a:p>
            <a:pPr>
              <a:defRPr sz="1250">
                <a:solidFill>
                  <a:srgbClr val="2D2623"/>
                </a:solidFill>
              </a:defRPr>
            </a:pPr>
            <a:r>
              <a:t>React/Vite frontend, Node.js/Express backend and MySQL provide a familiar full-stack architecture. Socket.IO supports real-time updates.</a:t>
            </a:r>
          </a:p>
        </p:txBody>
      </p:sp>
      <p:sp>
        <p:nvSpPr>
          <p:cNvPr id="10" name="Rounded Rectangle 9"/>
          <p:cNvSpPr/>
          <p:nvPr/>
        </p:nvSpPr>
        <p:spPr>
          <a:xfrm>
            <a:off x="6309359" y="1417320"/>
            <a:ext cx="5166360" cy="182880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59" y="1417320"/>
            <a:ext cx="109728" cy="1828800"/>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399" y="1645920"/>
            <a:ext cx="4480560" cy="411480"/>
          </a:xfrm>
          <a:prstGeom prst="rect">
            <a:avLst/>
          </a:prstGeom>
          <a:noFill/>
        </p:spPr>
        <p:txBody>
          <a:bodyPr wrap="none">
            <a:spAutoFit/>
          </a:bodyPr>
          <a:lstStyle/>
          <a:p>
            <a:pPr>
              <a:defRPr sz="1600" b="1">
                <a:solidFill>
                  <a:srgbClr val="C23921"/>
                </a:solidFill>
              </a:defRPr>
            </a:pPr>
            <a:r>
              <a:t>Economic Feasibility</a:t>
            </a:r>
          </a:p>
        </p:txBody>
      </p:sp>
      <p:sp>
        <p:nvSpPr>
          <p:cNvPr id="13" name="TextBox 12"/>
          <p:cNvSpPr txBox="1"/>
          <p:nvPr/>
        </p:nvSpPr>
        <p:spPr>
          <a:xfrm>
            <a:off x="6629399" y="2167128"/>
            <a:ext cx="4480560" cy="868680"/>
          </a:xfrm>
          <a:prstGeom prst="rect">
            <a:avLst/>
          </a:prstGeom>
          <a:noFill/>
        </p:spPr>
        <p:txBody>
          <a:bodyPr wrap="none">
            <a:spAutoFit/>
          </a:bodyPr>
          <a:lstStyle/>
          <a:p>
            <a:pPr>
              <a:defRPr sz="1250">
                <a:solidFill>
                  <a:srgbClr val="2D2623"/>
                </a:solidFill>
              </a:defRPr>
            </a:pPr>
            <a:r>
              <a:t>The system can be developed with widely available open-source technologies and standard development tools.</a:t>
            </a:r>
          </a:p>
        </p:txBody>
      </p:sp>
      <p:sp>
        <p:nvSpPr>
          <p:cNvPr id="14" name="Rounded Rectangle 13"/>
          <p:cNvSpPr/>
          <p:nvPr/>
        </p:nvSpPr>
        <p:spPr>
          <a:xfrm>
            <a:off x="731520" y="3657600"/>
            <a:ext cx="5166360" cy="182880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657600"/>
            <a:ext cx="109728" cy="1828800"/>
          </a:xfrm>
          <a:prstGeom prst="rect">
            <a:avLst/>
          </a:prstGeom>
          <a:solidFill>
            <a:srgbClr val="EF7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886200"/>
            <a:ext cx="4480560" cy="411480"/>
          </a:xfrm>
          <a:prstGeom prst="rect">
            <a:avLst/>
          </a:prstGeom>
          <a:noFill/>
        </p:spPr>
        <p:txBody>
          <a:bodyPr wrap="none">
            <a:spAutoFit/>
          </a:bodyPr>
          <a:lstStyle/>
          <a:p>
            <a:pPr>
              <a:defRPr sz="1600" b="1">
                <a:solidFill>
                  <a:srgbClr val="EF7E39"/>
                </a:solidFill>
              </a:defRPr>
            </a:pPr>
            <a:r>
              <a:t>Operational Feasibility</a:t>
            </a:r>
          </a:p>
        </p:txBody>
      </p:sp>
      <p:sp>
        <p:nvSpPr>
          <p:cNvPr id="17" name="TextBox 16"/>
          <p:cNvSpPr txBox="1"/>
          <p:nvPr/>
        </p:nvSpPr>
        <p:spPr>
          <a:xfrm>
            <a:off x="1051560" y="4407408"/>
            <a:ext cx="4480560" cy="868680"/>
          </a:xfrm>
          <a:prstGeom prst="rect">
            <a:avLst/>
          </a:prstGeom>
          <a:noFill/>
        </p:spPr>
        <p:txBody>
          <a:bodyPr wrap="none">
            <a:spAutoFit/>
          </a:bodyPr>
          <a:lstStyle/>
          <a:p>
            <a:pPr>
              <a:defRPr sz="1250">
                <a:solidFill>
                  <a:srgbClr val="2D2623"/>
                </a:solidFill>
              </a:defRPr>
            </a:pPr>
            <a:r>
              <a:t>Role-based dashboards and simple workflows make the system understandable for customers, restaurants and administrators.</a:t>
            </a:r>
          </a:p>
        </p:txBody>
      </p:sp>
      <p:sp>
        <p:nvSpPr>
          <p:cNvPr id="18" name="Rounded Rectangle 17"/>
          <p:cNvSpPr/>
          <p:nvPr/>
        </p:nvSpPr>
        <p:spPr>
          <a:xfrm>
            <a:off x="6309359" y="3657600"/>
            <a:ext cx="5166360" cy="182880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59" y="3657600"/>
            <a:ext cx="109728" cy="1828800"/>
          </a:xfrm>
          <a:prstGeom prst="rect">
            <a:avLst/>
          </a:prstGeom>
          <a:solidFill>
            <a:srgbClr val="F5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399" y="3886200"/>
            <a:ext cx="4480560" cy="411480"/>
          </a:xfrm>
          <a:prstGeom prst="rect">
            <a:avLst/>
          </a:prstGeom>
          <a:noFill/>
        </p:spPr>
        <p:txBody>
          <a:bodyPr wrap="none">
            <a:spAutoFit/>
          </a:bodyPr>
          <a:lstStyle/>
          <a:p>
            <a:pPr>
              <a:defRPr sz="1600" b="1">
                <a:solidFill>
                  <a:srgbClr val="F5B848"/>
                </a:solidFill>
              </a:defRPr>
            </a:pPr>
            <a:r>
              <a:t>Schedule Feasibility</a:t>
            </a:r>
          </a:p>
        </p:txBody>
      </p:sp>
      <p:sp>
        <p:nvSpPr>
          <p:cNvPr id="21" name="TextBox 20"/>
          <p:cNvSpPr txBox="1"/>
          <p:nvPr/>
        </p:nvSpPr>
        <p:spPr>
          <a:xfrm>
            <a:off x="6629399" y="4407408"/>
            <a:ext cx="4480560" cy="868680"/>
          </a:xfrm>
          <a:prstGeom prst="rect">
            <a:avLst/>
          </a:prstGeom>
          <a:noFill/>
        </p:spPr>
        <p:txBody>
          <a:bodyPr wrap="none">
            <a:spAutoFit/>
          </a:bodyPr>
          <a:lstStyle/>
          <a:p>
            <a:pPr>
              <a:defRPr sz="1250">
                <a:solidFill>
                  <a:srgbClr val="2D2623"/>
                </a:solidFill>
              </a:defRPr>
            </a:pPr>
            <a:r>
              <a:t>The platform is modular: authentication, restaurants, cart, orders, payments, delivery and group ordering can be developed incrementally.</a:t>
            </a:r>
          </a:p>
        </p:txBody>
      </p:sp>
      <p:sp>
        <p:nvSpPr>
          <p:cNvPr id="22" name="TextBox 21"/>
          <p:cNvSpPr txBox="1"/>
          <p:nvPr/>
        </p:nvSpPr>
        <p:spPr>
          <a:xfrm>
            <a:off x="777240" y="5989320"/>
            <a:ext cx="10698480" cy="365760"/>
          </a:xfrm>
          <a:prstGeom prst="rect">
            <a:avLst/>
          </a:prstGeom>
          <a:noFill/>
        </p:spPr>
        <p:txBody>
          <a:bodyPr wrap="none">
            <a:spAutoFit/>
          </a:bodyPr>
          <a:lstStyle/>
          <a:p>
            <a:pPr>
              <a:defRPr sz="1350" b="1">
                <a:solidFill>
                  <a:srgbClr val="C23921"/>
                </a:solidFill>
              </a:defRPr>
            </a:pPr>
            <a:r>
              <a:t>Feasibility takeaway: the proposed solution is technically achievable, affordable for an academic prototype and useful in a real-world context.</a:t>
            </a:r>
          </a:p>
        </p:txBody>
      </p:sp>
      <p:sp>
        <p:nvSpPr>
          <p:cNvPr id="23" name="TextBox 22"/>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5. Existing System vs Proposed System</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How FoodFlow improves the conventional ordering experience</a:t>
            </a:r>
          </a:p>
        </p:txBody>
      </p:sp>
      <p:sp>
        <p:nvSpPr>
          <p:cNvPr id="6" name="Rectangle 5"/>
          <p:cNvSpPr/>
          <p:nvPr/>
        </p:nvSpPr>
        <p:spPr>
          <a:xfrm>
            <a:off x="640080" y="1417320"/>
            <a:ext cx="2011680" cy="594360"/>
          </a:xfrm>
          <a:prstGeom prst="rect">
            <a:avLst/>
          </a:prstGeom>
          <a:solidFill>
            <a:srgbClr val="2D262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27048"/>
            <a:ext cx="1792224" cy="365760"/>
          </a:xfrm>
          <a:prstGeom prst="rect">
            <a:avLst/>
          </a:prstGeom>
          <a:noFill/>
        </p:spPr>
        <p:txBody>
          <a:bodyPr wrap="none">
            <a:spAutoFit/>
          </a:bodyPr>
          <a:lstStyle/>
          <a:p>
            <a:pPr>
              <a:defRPr sz="1200" b="1">
                <a:solidFill>
                  <a:srgbClr val="FFFFFF"/>
                </a:solidFill>
              </a:defRPr>
            </a:pPr>
            <a:r>
              <a:t>Aspect</a:t>
            </a:r>
          </a:p>
        </p:txBody>
      </p:sp>
      <p:sp>
        <p:nvSpPr>
          <p:cNvPr id="8" name="Rectangle 7"/>
          <p:cNvSpPr/>
          <p:nvPr/>
        </p:nvSpPr>
        <p:spPr>
          <a:xfrm>
            <a:off x="2651760" y="1417320"/>
            <a:ext cx="4069080" cy="594360"/>
          </a:xfrm>
          <a:prstGeom prst="rect">
            <a:avLst/>
          </a:prstGeom>
          <a:solidFill>
            <a:srgbClr val="2D262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1488" y="1527048"/>
            <a:ext cx="3849624" cy="365760"/>
          </a:xfrm>
          <a:prstGeom prst="rect">
            <a:avLst/>
          </a:prstGeom>
          <a:noFill/>
        </p:spPr>
        <p:txBody>
          <a:bodyPr wrap="none">
            <a:spAutoFit/>
          </a:bodyPr>
          <a:lstStyle/>
          <a:p>
            <a:pPr>
              <a:defRPr sz="1200" b="1">
                <a:solidFill>
                  <a:srgbClr val="FFFFFF"/>
                </a:solidFill>
              </a:defRPr>
            </a:pPr>
            <a:r>
              <a:t>Conventional / fragmented</a:t>
            </a:r>
          </a:p>
        </p:txBody>
      </p:sp>
      <p:sp>
        <p:nvSpPr>
          <p:cNvPr id="10" name="Rectangle 9"/>
          <p:cNvSpPr/>
          <p:nvPr/>
        </p:nvSpPr>
        <p:spPr>
          <a:xfrm>
            <a:off x="6720840" y="1417320"/>
            <a:ext cx="4892040" cy="594360"/>
          </a:xfrm>
          <a:prstGeom prst="rect">
            <a:avLst/>
          </a:prstGeom>
          <a:solidFill>
            <a:srgbClr val="2D262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0568" y="1527048"/>
            <a:ext cx="4672583" cy="365760"/>
          </a:xfrm>
          <a:prstGeom prst="rect">
            <a:avLst/>
          </a:prstGeom>
          <a:noFill/>
        </p:spPr>
        <p:txBody>
          <a:bodyPr wrap="none">
            <a:spAutoFit/>
          </a:bodyPr>
          <a:lstStyle/>
          <a:p>
            <a:pPr>
              <a:defRPr sz="1200" b="1">
                <a:solidFill>
                  <a:srgbClr val="FFFFFF"/>
                </a:solidFill>
              </a:defRPr>
            </a:pPr>
            <a:r>
              <a:t>FoodFlow proposed platform</a:t>
            </a:r>
          </a:p>
        </p:txBody>
      </p:sp>
      <p:sp>
        <p:nvSpPr>
          <p:cNvPr id="12" name="Rectangle 11"/>
          <p:cNvSpPr/>
          <p:nvPr/>
        </p:nvSpPr>
        <p:spPr>
          <a:xfrm>
            <a:off x="640080" y="2011680"/>
            <a:ext cx="20116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121408"/>
            <a:ext cx="1792224" cy="502920"/>
          </a:xfrm>
          <a:prstGeom prst="rect">
            <a:avLst/>
          </a:prstGeom>
          <a:noFill/>
        </p:spPr>
        <p:txBody>
          <a:bodyPr wrap="none">
            <a:spAutoFit/>
          </a:bodyPr>
          <a:lstStyle/>
          <a:p>
            <a:pPr>
              <a:defRPr sz="1150" b="1">
                <a:solidFill>
                  <a:srgbClr val="C23921"/>
                </a:solidFill>
              </a:defRPr>
            </a:pPr>
            <a:r>
              <a:t>Ordering</a:t>
            </a:r>
          </a:p>
        </p:txBody>
      </p:sp>
      <p:sp>
        <p:nvSpPr>
          <p:cNvPr id="14" name="Rectangle 13"/>
          <p:cNvSpPr/>
          <p:nvPr/>
        </p:nvSpPr>
        <p:spPr>
          <a:xfrm>
            <a:off x="2651760" y="2011680"/>
            <a:ext cx="40690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1488" y="2121408"/>
            <a:ext cx="3849624" cy="502920"/>
          </a:xfrm>
          <a:prstGeom prst="rect">
            <a:avLst/>
          </a:prstGeom>
          <a:noFill/>
        </p:spPr>
        <p:txBody>
          <a:bodyPr wrap="none">
            <a:spAutoFit/>
          </a:bodyPr>
          <a:lstStyle/>
          <a:p>
            <a:pPr>
              <a:defRPr sz="1120" b="0">
                <a:solidFill>
                  <a:srgbClr val="2D2623"/>
                </a:solidFill>
              </a:defRPr>
            </a:pPr>
            <a:r>
              <a:t>Multiple steps/channels</a:t>
            </a:r>
          </a:p>
        </p:txBody>
      </p:sp>
      <p:sp>
        <p:nvSpPr>
          <p:cNvPr id="16" name="Rectangle 15"/>
          <p:cNvSpPr/>
          <p:nvPr/>
        </p:nvSpPr>
        <p:spPr>
          <a:xfrm>
            <a:off x="6720840" y="2011680"/>
            <a:ext cx="489204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0568" y="2121408"/>
            <a:ext cx="4672583" cy="502920"/>
          </a:xfrm>
          <a:prstGeom prst="rect">
            <a:avLst/>
          </a:prstGeom>
          <a:noFill/>
        </p:spPr>
        <p:txBody>
          <a:bodyPr wrap="none">
            <a:spAutoFit/>
          </a:bodyPr>
          <a:lstStyle/>
          <a:p>
            <a:pPr>
              <a:defRPr sz="1120" b="0">
                <a:solidFill>
                  <a:srgbClr val="2D2623"/>
                </a:solidFill>
              </a:defRPr>
            </a:pPr>
            <a:r>
              <a:t>Integrated browse → cart → checkout → order</a:t>
            </a:r>
          </a:p>
        </p:txBody>
      </p:sp>
      <p:sp>
        <p:nvSpPr>
          <p:cNvPr id="18" name="Rectangle 17"/>
          <p:cNvSpPr/>
          <p:nvPr/>
        </p:nvSpPr>
        <p:spPr>
          <a:xfrm>
            <a:off x="640080" y="2761488"/>
            <a:ext cx="20116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871216"/>
            <a:ext cx="1792224" cy="502920"/>
          </a:xfrm>
          <a:prstGeom prst="rect">
            <a:avLst/>
          </a:prstGeom>
          <a:noFill/>
        </p:spPr>
        <p:txBody>
          <a:bodyPr wrap="none">
            <a:spAutoFit/>
          </a:bodyPr>
          <a:lstStyle/>
          <a:p>
            <a:pPr>
              <a:defRPr sz="1150" b="1">
                <a:solidFill>
                  <a:srgbClr val="C23921"/>
                </a:solidFill>
              </a:defRPr>
            </a:pPr>
            <a:r>
              <a:t>Restaurant management</a:t>
            </a:r>
          </a:p>
        </p:txBody>
      </p:sp>
      <p:sp>
        <p:nvSpPr>
          <p:cNvPr id="20" name="Rectangle 19"/>
          <p:cNvSpPr/>
          <p:nvPr/>
        </p:nvSpPr>
        <p:spPr>
          <a:xfrm>
            <a:off x="2651760" y="2761488"/>
            <a:ext cx="40690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1488" y="2871216"/>
            <a:ext cx="3849624" cy="502920"/>
          </a:xfrm>
          <a:prstGeom prst="rect">
            <a:avLst/>
          </a:prstGeom>
          <a:noFill/>
        </p:spPr>
        <p:txBody>
          <a:bodyPr wrap="none">
            <a:spAutoFit/>
          </a:bodyPr>
          <a:lstStyle/>
          <a:p>
            <a:pPr>
              <a:defRPr sz="1120" b="0">
                <a:solidFill>
                  <a:srgbClr val="2D2623"/>
                </a:solidFill>
              </a:defRPr>
            </a:pPr>
            <a:r>
              <a:t>Manual or limited digital control</a:t>
            </a:r>
          </a:p>
        </p:txBody>
      </p:sp>
      <p:sp>
        <p:nvSpPr>
          <p:cNvPr id="22" name="Rectangle 21"/>
          <p:cNvSpPr/>
          <p:nvPr/>
        </p:nvSpPr>
        <p:spPr>
          <a:xfrm>
            <a:off x="6720840" y="2761488"/>
            <a:ext cx="489204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0568" y="2871216"/>
            <a:ext cx="4672583" cy="502920"/>
          </a:xfrm>
          <a:prstGeom prst="rect">
            <a:avLst/>
          </a:prstGeom>
          <a:noFill/>
        </p:spPr>
        <p:txBody>
          <a:bodyPr wrap="none">
            <a:spAutoFit/>
          </a:bodyPr>
          <a:lstStyle/>
          <a:p>
            <a:pPr>
              <a:defRPr sz="1120" b="0">
                <a:solidFill>
                  <a:srgbClr val="2D2623"/>
                </a:solidFill>
              </a:defRPr>
            </a:pPr>
            <a:r>
              <a:t>Digital menu and order management</a:t>
            </a:r>
          </a:p>
        </p:txBody>
      </p:sp>
      <p:sp>
        <p:nvSpPr>
          <p:cNvPr id="24" name="Rectangle 23"/>
          <p:cNvSpPr/>
          <p:nvPr/>
        </p:nvSpPr>
        <p:spPr>
          <a:xfrm>
            <a:off x="640080" y="3511296"/>
            <a:ext cx="20116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621024"/>
            <a:ext cx="1792224" cy="502920"/>
          </a:xfrm>
          <a:prstGeom prst="rect">
            <a:avLst/>
          </a:prstGeom>
          <a:noFill/>
        </p:spPr>
        <p:txBody>
          <a:bodyPr wrap="none">
            <a:spAutoFit/>
          </a:bodyPr>
          <a:lstStyle/>
          <a:p>
            <a:pPr>
              <a:defRPr sz="1150" b="1">
                <a:solidFill>
                  <a:srgbClr val="C23921"/>
                </a:solidFill>
              </a:defRPr>
            </a:pPr>
            <a:r>
              <a:t>Order visibility</a:t>
            </a:r>
          </a:p>
        </p:txBody>
      </p:sp>
      <p:sp>
        <p:nvSpPr>
          <p:cNvPr id="26" name="Rectangle 25"/>
          <p:cNvSpPr/>
          <p:nvPr/>
        </p:nvSpPr>
        <p:spPr>
          <a:xfrm>
            <a:off x="2651760" y="3511296"/>
            <a:ext cx="40690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1488" y="3621024"/>
            <a:ext cx="3849624" cy="502920"/>
          </a:xfrm>
          <a:prstGeom prst="rect">
            <a:avLst/>
          </a:prstGeom>
          <a:noFill/>
        </p:spPr>
        <p:txBody>
          <a:bodyPr wrap="none">
            <a:spAutoFit/>
          </a:bodyPr>
          <a:lstStyle/>
          <a:p>
            <a:pPr>
              <a:defRPr sz="1120" b="0">
                <a:solidFill>
                  <a:srgbClr val="2D2623"/>
                </a:solidFill>
              </a:defRPr>
            </a:pPr>
            <a:r>
              <a:t>Status may be unclear</a:t>
            </a:r>
          </a:p>
        </p:txBody>
      </p:sp>
      <p:sp>
        <p:nvSpPr>
          <p:cNvPr id="28" name="Rectangle 27"/>
          <p:cNvSpPr/>
          <p:nvPr/>
        </p:nvSpPr>
        <p:spPr>
          <a:xfrm>
            <a:off x="6720840" y="3511296"/>
            <a:ext cx="489204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30568" y="3621024"/>
            <a:ext cx="4672583" cy="502920"/>
          </a:xfrm>
          <a:prstGeom prst="rect">
            <a:avLst/>
          </a:prstGeom>
          <a:noFill/>
        </p:spPr>
        <p:txBody>
          <a:bodyPr wrap="none">
            <a:spAutoFit/>
          </a:bodyPr>
          <a:lstStyle/>
          <a:p>
            <a:pPr>
              <a:defRPr sz="1120" b="0">
                <a:solidFill>
                  <a:srgbClr val="2D2623"/>
                </a:solidFill>
              </a:defRPr>
            </a:pPr>
            <a:r>
              <a:t>Status updates across the order lifecycle</a:t>
            </a:r>
          </a:p>
        </p:txBody>
      </p:sp>
      <p:sp>
        <p:nvSpPr>
          <p:cNvPr id="30" name="Rectangle 29"/>
          <p:cNvSpPr/>
          <p:nvPr/>
        </p:nvSpPr>
        <p:spPr>
          <a:xfrm>
            <a:off x="640080" y="4261104"/>
            <a:ext cx="20116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4370832"/>
            <a:ext cx="1792224" cy="502920"/>
          </a:xfrm>
          <a:prstGeom prst="rect">
            <a:avLst/>
          </a:prstGeom>
          <a:noFill/>
        </p:spPr>
        <p:txBody>
          <a:bodyPr wrap="none">
            <a:spAutoFit/>
          </a:bodyPr>
          <a:lstStyle/>
          <a:p>
            <a:pPr>
              <a:defRPr sz="1150" b="1">
                <a:solidFill>
                  <a:srgbClr val="C23921"/>
                </a:solidFill>
              </a:defRPr>
            </a:pPr>
            <a:r>
              <a:t>Group meals</a:t>
            </a:r>
          </a:p>
        </p:txBody>
      </p:sp>
      <p:sp>
        <p:nvSpPr>
          <p:cNvPr id="32" name="Rectangle 31"/>
          <p:cNvSpPr/>
          <p:nvPr/>
        </p:nvSpPr>
        <p:spPr>
          <a:xfrm>
            <a:off x="2651760" y="4261104"/>
            <a:ext cx="40690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61488" y="4370832"/>
            <a:ext cx="3849624" cy="502920"/>
          </a:xfrm>
          <a:prstGeom prst="rect">
            <a:avLst/>
          </a:prstGeom>
          <a:noFill/>
        </p:spPr>
        <p:txBody>
          <a:bodyPr wrap="none">
            <a:spAutoFit/>
          </a:bodyPr>
          <a:lstStyle/>
          <a:p>
            <a:pPr>
              <a:defRPr sz="1120" b="0">
                <a:solidFill>
                  <a:srgbClr val="2D2623"/>
                </a:solidFill>
              </a:defRPr>
            </a:pPr>
            <a:r>
              <a:t>Separate orders and manual bill calculation</a:t>
            </a:r>
          </a:p>
        </p:txBody>
      </p:sp>
      <p:sp>
        <p:nvSpPr>
          <p:cNvPr id="34" name="Rectangle 33"/>
          <p:cNvSpPr/>
          <p:nvPr/>
        </p:nvSpPr>
        <p:spPr>
          <a:xfrm>
            <a:off x="6720840" y="4261104"/>
            <a:ext cx="489204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370832"/>
            <a:ext cx="4672583" cy="502920"/>
          </a:xfrm>
          <a:prstGeom prst="rect">
            <a:avLst/>
          </a:prstGeom>
          <a:noFill/>
        </p:spPr>
        <p:txBody>
          <a:bodyPr wrap="none">
            <a:spAutoFit/>
          </a:bodyPr>
          <a:lstStyle/>
          <a:p>
            <a:pPr>
              <a:defRPr sz="1120" b="0">
                <a:solidFill>
                  <a:srgbClr val="2D2623"/>
                </a:solidFill>
              </a:defRPr>
            </a:pPr>
            <a:r>
              <a:t>Shared cart + item ownership + split bill</a:t>
            </a:r>
          </a:p>
        </p:txBody>
      </p:sp>
      <p:sp>
        <p:nvSpPr>
          <p:cNvPr id="36" name="Rectangle 35"/>
          <p:cNvSpPr/>
          <p:nvPr/>
        </p:nvSpPr>
        <p:spPr>
          <a:xfrm>
            <a:off x="640080" y="5010912"/>
            <a:ext cx="20116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5120640"/>
            <a:ext cx="1792224" cy="502920"/>
          </a:xfrm>
          <a:prstGeom prst="rect">
            <a:avLst/>
          </a:prstGeom>
          <a:noFill/>
        </p:spPr>
        <p:txBody>
          <a:bodyPr wrap="none">
            <a:spAutoFit/>
          </a:bodyPr>
          <a:lstStyle/>
          <a:p>
            <a:pPr>
              <a:defRPr sz="1150" b="1">
                <a:solidFill>
                  <a:srgbClr val="C23921"/>
                </a:solidFill>
              </a:defRPr>
            </a:pPr>
            <a:r>
              <a:t>Communication</a:t>
            </a:r>
          </a:p>
        </p:txBody>
      </p:sp>
      <p:sp>
        <p:nvSpPr>
          <p:cNvPr id="38" name="Rectangle 37"/>
          <p:cNvSpPr/>
          <p:nvPr/>
        </p:nvSpPr>
        <p:spPr>
          <a:xfrm>
            <a:off x="2651760" y="5010912"/>
            <a:ext cx="406908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61488" y="5120640"/>
            <a:ext cx="3849624" cy="502920"/>
          </a:xfrm>
          <a:prstGeom prst="rect">
            <a:avLst/>
          </a:prstGeom>
          <a:noFill/>
        </p:spPr>
        <p:txBody>
          <a:bodyPr wrap="none">
            <a:spAutoFit/>
          </a:bodyPr>
          <a:lstStyle/>
          <a:p>
            <a:pPr>
              <a:defRPr sz="1120" b="0">
                <a:solidFill>
                  <a:srgbClr val="2D2623"/>
                </a:solidFill>
              </a:defRPr>
            </a:pPr>
            <a:r>
              <a:t>Static confirmation</a:t>
            </a:r>
          </a:p>
        </p:txBody>
      </p:sp>
      <p:sp>
        <p:nvSpPr>
          <p:cNvPr id="40" name="Rectangle 39"/>
          <p:cNvSpPr/>
          <p:nvPr/>
        </p:nvSpPr>
        <p:spPr>
          <a:xfrm>
            <a:off x="6720840" y="5010912"/>
            <a:ext cx="4892040" cy="749808"/>
          </a:xfrm>
          <a:prstGeom prst="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30568" y="5120640"/>
            <a:ext cx="4672583" cy="502920"/>
          </a:xfrm>
          <a:prstGeom prst="rect">
            <a:avLst/>
          </a:prstGeom>
          <a:noFill/>
        </p:spPr>
        <p:txBody>
          <a:bodyPr wrap="none">
            <a:spAutoFit/>
          </a:bodyPr>
          <a:lstStyle/>
          <a:p>
            <a:pPr>
              <a:defRPr sz="1120" b="0">
                <a:solidFill>
                  <a:srgbClr val="2D2623"/>
                </a:solidFill>
              </a:defRPr>
            </a:pPr>
            <a:r>
              <a:t>Real-time Socket.IO updates</a:t>
            </a:r>
          </a:p>
        </p:txBody>
      </p:sp>
      <p:sp>
        <p:nvSpPr>
          <p:cNvPr id="42" name="Rectangle 41"/>
          <p:cNvSpPr/>
          <p:nvPr/>
        </p:nvSpPr>
        <p:spPr>
          <a:xfrm>
            <a:off x="640080" y="5760720"/>
            <a:ext cx="20116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 y="5870448"/>
            <a:ext cx="1792224" cy="502920"/>
          </a:xfrm>
          <a:prstGeom prst="rect">
            <a:avLst/>
          </a:prstGeom>
          <a:noFill/>
        </p:spPr>
        <p:txBody>
          <a:bodyPr wrap="none">
            <a:spAutoFit/>
          </a:bodyPr>
          <a:lstStyle/>
          <a:p>
            <a:pPr>
              <a:defRPr sz="1150" b="1">
                <a:solidFill>
                  <a:srgbClr val="C23921"/>
                </a:solidFill>
              </a:defRPr>
            </a:pPr>
            <a:r>
              <a:t>Scalability</a:t>
            </a:r>
          </a:p>
        </p:txBody>
      </p:sp>
      <p:sp>
        <p:nvSpPr>
          <p:cNvPr id="44" name="Rectangle 43"/>
          <p:cNvSpPr/>
          <p:nvPr/>
        </p:nvSpPr>
        <p:spPr>
          <a:xfrm>
            <a:off x="2651760" y="5760720"/>
            <a:ext cx="406908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1488" y="5870448"/>
            <a:ext cx="3849624" cy="502920"/>
          </a:xfrm>
          <a:prstGeom prst="rect">
            <a:avLst/>
          </a:prstGeom>
          <a:noFill/>
        </p:spPr>
        <p:txBody>
          <a:bodyPr wrap="none">
            <a:spAutoFit/>
          </a:bodyPr>
          <a:lstStyle/>
          <a:p>
            <a:pPr>
              <a:defRPr sz="1120" b="0">
                <a:solidFill>
                  <a:srgbClr val="2D2623"/>
                </a:solidFill>
              </a:defRPr>
            </a:pPr>
            <a:r>
              <a:t>Difficult to extend</a:t>
            </a:r>
          </a:p>
        </p:txBody>
      </p:sp>
      <p:sp>
        <p:nvSpPr>
          <p:cNvPr id="46" name="Rectangle 45"/>
          <p:cNvSpPr/>
          <p:nvPr/>
        </p:nvSpPr>
        <p:spPr>
          <a:xfrm>
            <a:off x="6720840" y="5760720"/>
            <a:ext cx="4892040" cy="749808"/>
          </a:xfrm>
          <a:prstGeom prst="rect">
            <a:avLst/>
          </a:prstGeom>
          <a:solidFill>
            <a:srgbClr val="F7F2EE"/>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30568" y="5870448"/>
            <a:ext cx="4672583" cy="502920"/>
          </a:xfrm>
          <a:prstGeom prst="rect">
            <a:avLst/>
          </a:prstGeom>
          <a:noFill/>
        </p:spPr>
        <p:txBody>
          <a:bodyPr wrap="none">
            <a:spAutoFit/>
          </a:bodyPr>
          <a:lstStyle/>
          <a:p>
            <a:pPr>
              <a:defRPr sz="1120" b="0">
                <a:solidFill>
                  <a:srgbClr val="2D2623"/>
                </a:solidFill>
              </a:defRPr>
            </a:pPr>
            <a:r>
              <a:t>Modular architecture for future services</a:t>
            </a:r>
          </a:p>
        </p:txBody>
      </p:sp>
      <p:sp>
        <p:nvSpPr>
          <p:cNvPr id="48" name="TextBox 47"/>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6. Novelty of the Project</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The feature that differentiates FoodFlow</a:t>
            </a:r>
          </a:p>
        </p:txBody>
      </p:sp>
      <p:sp>
        <p:nvSpPr>
          <p:cNvPr id="6" name="Rounded Rectangle 5"/>
          <p:cNvSpPr/>
          <p:nvPr/>
        </p:nvSpPr>
        <p:spPr>
          <a:xfrm>
            <a:off x="685800" y="1325880"/>
            <a:ext cx="1828800" cy="347472"/>
          </a:xfrm>
          <a:prstGeom prst="roundRect">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35024"/>
            <a:ext cx="1828800" cy="292608"/>
          </a:xfrm>
          <a:prstGeom prst="rect">
            <a:avLst/>
          </a:prstGeom>
          <a:noFill/>
        </p:spPr>
        <p:txBody>
          <a:bodyPr wrap="none">
            <a:spAutoFit/>
          </a:bodyPr>
          <a:lstStyle/>
          <a:p>
            <a:pPr algn="ctr">
              <a:defRPr sz="1000" b="1">
                <a:solidFill>
                  <a:srgbClr val="C23921"/>
                </a:solidFill>
                <a:latin typeface="Aptos"/>
              </a:defRPr>
            </a:pPr>
            <a:r>
              <a:t>NOVELTY FEATURE</a:t>
            </a:r>
          </a:p>
        </p:txBody>
      </p:sp>
      <p:sp>
        <p:nvSpPr>
          <p:cNvPr id="8" name="Rounded Rectangle 7"/>
          <p:cNvSpPr/>
          <p:nvPr/>
        </p:nvSpPr>
        <p:spPr>
          <a:xfrm>
            <a:off x="731520" y="1828800"/>
            <a:ext cx="3063240" cy="96012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1965960"/>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93392"/>
            <a:ext cx="384048" cy="274320"/>
          </a:xfrm>
          <a:prstGeom prst="rect">
            <a:avLst/>
          </a:prstGeom>
          <a:noFill/>
        </p:spPr>
        <p:txBody>
          <a:bodyPr wrap="none">
            <a:spAutoFit/>
          </a:bodyPr>
          <a:lstStyle/>
          <a:p>
            <a:pPr algn="ctr">
              <a:defRPr sz="1100" b="1">
                <a:solidFill>
                  <a:srgbClr val="FFFFFF"/>
                </a:solidFill>
              </a:defRPr>
            </a:pPr>
            <a:r>
              <a:t>1</a:t>
            </a:r>
          </a:p>
        </p:txBody>
      </p:sp>
      <p:sp>
        <p:nvSpPr>
          <p:cNvPr id="11" name="TextBox 10"/>
          <p:cNvSpPr txBox="1"/>
          <p:nvPr/>
        </p:nvSpPr>
        <p:spPr>
          <a:xfrm>
            <a:off x="1353312" y="1956816"/>
            <a:ext cx="2313432" cy="347472"/>
          </a:xfrm>
          <a:prstGeom prst="rect">
            <a:avLst/>
          </a:prstGeom>
          <a:noFill/>
        </p:spPr>
        <p:txBody>
          <a:bodyPr wrap="none">
            <a:spAutoFit/>
          </a:bodyPr>
          <a:lstStyle/>
          <a:p>
            <a:pPr>
              <a:defRPr sz="1300" b="1">
                <a:solidFill>
                  <a:srgbClr val="2D2623"/>
                </a:solidFill>
              </a:defRPr>
            </a:pPr>
            <a:r>
              <a:t>Create group</a:t>
            </a:r>
          </a:p>
        </p:txBody>
      </p:sp>
      <p:sp>
        <p:nvSpPr>
          <p:cNvPr id="12" name="TextBox 11"/>
          <p:cNvSpPr txBox="1"/>
          <p:nvPr/>
        </p:nvSpPr>
        <p:spPr>
          <a:xfrm>
            <a:off x="1353312" y="2331720"/>
            <a:ext cx="2313432" cy="365760"/>
          </a:xfrm>
          <a:prstGeom prst="rect">
            <a:avLst/>
          </a:prstGeom>
          <a:noFill/>
        </p:spPr>
        <p:txBody>
          <a:bodyPr wrap="none">
            <a:spAutoFit/>
          </a:bodyPr>
          <a:lstStyle/>
          <a:p>
            <a:pPr>
              <a:defRPr sz="1050">
                <a:solidFill>
                  <a:srgbClr val="68605B"/>
                </a:solidFill>
              </a:defRPr>
            </a:pPr>
            <a:r>
              <a:t>Generate a shared group order.</a:t>
            </a:r>
          </a:p>
        </p:txBody>
      </p:sp>
      <p:sp>
        <p:nvSpPr>
          <p:cNvPr id="13" name="Rounded Rectangle 12"/>
          <p:cNvSpPr/>
          <p:nvPr/>
        </p:nvSpPr>
        <p:spPr>
          <a:xfrm>
            <a:off x="731520" y="3063240"/>
            <a:ext cx="3063240" cy="96012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3200400"/>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27832"/>
            <a:ext cx="384048" cy="274320"/>
          </a:xfrm>
          <a:prstGeom prst="rect">
            <a:avLst/>
          </a:prstGeom>
          <a:noFill/>
        </p:spPr>
        <p:txBody>
          <a:bodyPr wrap="none">
            <a:spAutoFit/>
          </a:bodyPr>
          <a:lstStyle/>
          <a:p>
            <a:pPr algn="ctr">
              <a:defRPr sz="1100" b="1">
                <a:solidFill>
                  <a:srgbClr val="FFFFFF"/>
                </a:solidFill>
              </a:defRPr>
            </a:pPr>
            <a:r>
              <a:t>2</a:t>
            </a:r>
          </a:p>
        </p:txBody>
      </p:sp>
      <p:sp>
        <p:nvSpPr>
          <p:cNvPr id="16" name="TextBox 15"/>
          <p:cNvSpPr txBox="1"/>
          <p:nvPr/>
        </p:nvSpPr>
        <p:spPr>
          <a:xfrm>
            <a:off x="1353312" y="3191256"/>
            <a:ext cx="2313432" cy="347472"/>
          </a:xfrm>
          <a:prstGeom prst="rect">
            <a:avLst/>
          </a:prstGeom>
          <a:noFill/>
        </p:spPr>
        <p:txBody>
          <a:bodyPr wrap="none">
            <a:spAutoFit/>
          </a:bodyPr>
          <a:lstStyle/>
          <a:p>
            <a:pPr>
              <a:defRPr sz="1300" b="1">
                <a:solidFill>
                  <a:srgbClr val="2D2623"/>
                </a:solidFill>
              </a:defRPr>
            </a:pPr>
            <a:r>
              <a:t>Shared cart</a:t>
            </a:r>
          </a:p>
        </p:txBody>
      </p:sp>
      <p:sp>
        <p:nvSpPr>
          <p:cNvPr id="17" name="TextBox 16"/>
          <p:cNvSpPr txBox="1"/>
          <p:nvPr/>
        </p:nvSpPr>
        <p:spPr>
          <a:xfrm>
            <a:off x="1353312" y="3566160"/>
            <a:ext cx="2313432" cy="365760"/>
          </a:xfrm>
          <a:prstGeom prst="rect">
            <a:avLst/>
          </a:prstGeom>
          <a:noFill/>
        </p:spPr>
        <p:txBody>
          <a:bodyPr wrap="none">
            <a:spAutoFit/>
          </a:bodyPr>
          <a:lstStyle/>
          <a:p>
            <a:pPr>
              <a:defRPr sz="1050">
                <a:solidFill>
                  <a:srgbClr val="68605B"/>
                </a:solidFill>
              </a:defRPr>
            </a:pPr>
            <a:r>
              <a:t>Each member adds and owns their items.</a:t>
            </a:r>
          </a:p>
        </p:txBody>
      </p:sp>
      <p:sp>
        <p:nvSpPr>
          <p:cNvPr id="18" name="Rounded Rectangle 17"/>
          <p:cNvSpPr/>
          <p:nvPr/>
        </p:nvSpPr>
        <p:spPr>
          <a:xfrm>
            <a:off x="731520" y="4297680"/>
            <a:ext cx="3063240" cy="96012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4434840"/>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62272"/>
            <a:ext cx="384048" cy="274320"/>
          </a:xfrm>
          <a:prstGeom prst="rect">
            <a:avLst/>
          </a:prstGeom>
          <a:noFill/>
        </p:spPr>
        <p:txBody>
          <a:bodyPr wrap="none">
            <a:spAutoFit/>
          </a:bodyPr>
          <a:lstStyle/>
          <a:p>
            <a:pPr algn="ctr">
              <a:defRPr sz="1100" b="1">
                <a:solidFill>
                  <a:srgbClr val="FFFFFF"/>
                </a:solidFill>
              </a:defRPr>
            </a:pPr>
            <a:r>
              <a:t>3</a:t>
            </a:r>
          </a:p>
        </p:txBody>
      </p:sp>
      <p:sp>
        <p:nvSpPr>
          <p:cNvPr id="21" name="TextBox 20"/>
          <p:cNvSpPr txBox="1"/>
          <p:nvPr/>
        </p:nvSpPr>
        <p:spPr>
          <a:xfrm>
            <a:off x="1353312" y="4425696"/>
            <a:ext cx="2313432" cy="347472"/>
          </a:xfrm>
          <a:prstGeom prst="rect">
            <a:avLst/>
          </a:prstGeom>
          <a:noFill/>
        </p:spPr>
        <p:txBody>
          <a:bodyPr wrap="none">
            <a:spAutoFit/>
          </a:bodyPr>
          <a:lstStyle/>
          <a:p>
            <a:pPr>
              <a:defRPr sz="1300" b="1">
                <a:solidFill>
                  <a:srgbClr val="2D2623"/>
                </a:solidFill>
              </a:defRPr>
            </a:pPr>
            <a:r>
              <a:t>Split bill</a:t>
            </a:r>
          </a:p>
        </p:txBody>
      </p:sp>
      <p:sp>
        <p:nvSpPr>
          <p:cNvPr id="22" name="TextBox 21"/>
          <p:cNvSpPr txBox="1"/>
          <p:nvPr/>
        </p:nvSpPr>
        <p:spPr>
          <a:xfrm>
            <a:off x="1353312" y="4800600"/>
            <a:ext cx="2313432" cy="365760"/>
          </a:xfrm>
          <a:prstGeom prst="rect">
            <a:avLst/>
          </a:prstGeom>
          <a:noFill/>
        </p:spPr>
        <p:txBody>
          <a:bodyPr wrap="none">
            <a:spAutoFit/>
          </a:bodyPr>
          <a:lstStyle/>
          <a:p>
            <a:pPr>
              <a:defRPr sz="1050">
                <a:solidFill>
                  <a:srgbClr val="68605B"/>
                </a:solidFill>
              </a:defRPr>
            </a:pPr>
            <a:r>
              <a:t>Calculate individual contributions.</a:t>
            </a:r>
          </a:p>
        </p:txBody>
      </p:sp>
      <p:cxnSp>
        <p:nvCxnSpPr>
          <p:cNvPr id="23" name="Connector 22"/>
          <p:cNvCxnSpPr/>
          <p:nvPr/>
        </p:nvCxnSpPr>
        <p:spPr>
          <a:xfrm>
            <a:off x="2267712" y="2761488"/>
            <a:ext cx="0" cy="256032"/>
          </a:xfrm>
          <a:prstGeom prst="line">
            <a:avLst/>
          </a:prstGeom>
          <a:ln w="2794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267712" y="3995928"/>
            <a:ext cx="0" cy="256032"/>
          </a:xfrm>
          <a:prstGeom prst="line">
            <a:avLst/>
          </a:prstGeom>
          <a:ln w="27940">
            <a:solidFill>
              <a:srgbClr val="C2392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343400" y="1783080"/>
            <a:ext cx="6903720" cy="361188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07992" y="194767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1956816"/>
            <a:ext cx="438912" cy="384048"/>
          </a:xfrm>
          <a:prstGeom prst="rect">
            <a:avLst/>
          </a:prstGeom>
          <a:noFill/>
        </p:spPr>
        <p:txBody>
          <a:bodyPr wrap="none">
            <a:spAutoFit/>
          </a:bodyPr>
          <a:lstStyle/>
          <a:p>
            <a:pPr algn="ctr">
              <a:defRPr sz="1800" b="1">
                <a:solidFill>
                  <a:srgbClr val="C23921"/>
                </a:solidFill>
              </a:defRPr>
            </a:pPr>
            <a:r>
              <a:t>★</a:t>
            </a:r>
          </a:p>
        </p:txBody>
      </p:sp>
      <p:sp>
        <p:nvSpPr>
          <p:cNvPr id="28" name="TextBox 27"/>
          <p:cNvSpPr txBox="1"/>
          <p:nvPr/>
        </p:nvSpPr>
        <p:spPr>
          <a:xfrm>
            <a:off x="5056632" y="1947672"/>
            <a:ext cx="6007607" cy="411480"/>
          </a:xfrm>
          <a:prstGeom prst="rect">
            <a:avLst/>
          </a:prstGeom>
          <a:noFill/>
        </p:spPr>
        <p:txBody>
          <a:bodyPr wrap="none">
            <a:spAutoFit/>
          </a:bodyPr>
          <a:lstStyle/>
          <a:p>
            <a:pPr>
              <a:defRPr sz="1600" b="1">
                <a:solidFill>
                  <a:srgbClr val="C23921"/>
                </a:solidFill>
                <a:latin typeface="Aptos"/>
              </a:defRPr>
            </a:pPr>
            <a:r>
              <a:t>Group Ordering with Split Bill</a:t>
            </a:r>
          </a:p>
        </p:txBody>
      </p:sp>
      <p:sp>
        <p:nvSpPr>
          <p:cNvPr id="29" name="TextBox 28"/>
          <p:cNvSpPr txBox="1"/>
          <p:nvPr/>
        </p:nvSpPr>
        <p:spPr>
          <a:xfrm>
            <a:off x="4544568" y="2468880"/>
            <a:ext cx="6501383" cy="2788920"/>
          </a:xfrm>
          <a:prstGeom prst="rect">
            <a:avLst/>
          </a:prstGeom>
          <a:noFill/>
        </p:spPr>
        <p:txBody>
          <a:bodyPr wrap="square">
            <a:spAutoFit/>
          </a:bodyPr>
          <a:lstStyle/>
          <a:p>
            <a:pPr>
              <a:defRPr sz="1250">
                <a:solidFill>
                  <a:srgbClr val="2D2623"/>
                </a:solidFill>
                <a:latin typeface="Aptos"/>
              </a:defRPr>
            </a:pPr>
            <a:r>
              <a:t>FoodFlow introduces a collaborative ordering experience for friends, classmates, families or office teams. A group can use one shared cart while every member retains item ownership. The platform calculates the group total and supports individual bill splitting and payment handling, while Socket.IO can broadcast live updates to group members.</a:t>
            </a:r>
          </a:p>
        </p:txBody>
      </p:sp>
      <p:sp>
        <p:nvSpPr>
          <p:cNvPr id="30" name="Rounded Rectangle 29"/>
          <p:cNvSpPr/>
          <p:nvPr/>
        </p:nvSpPr>
        <p:spPr>
          <a:xfrm>
            <a:off x="4343400" y="4800600"/>
            <a:ext cx="1554480" cy="1051560"/>
          </a:xfrm>
          <a:prstGeom prst="roundRect">
            <a:avLst/>
          </a:prstGeom>
          <a:solidFill>
            <a:srgbClr val="FFEFE2"/>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4965192"/>
            <a:ext cx="1170432" cy="411480"/>
          </a:xfrm>
          <a:prstGeom prst="rect">
            <a:avLst/>
          </a:prstGeom>
          <a:noFill/>
        </p:spPr>
        <p:txBody>
          <a:bodyPr wrap="none">
            <a:spAutoFit/>
          </a:bodyPr>
          <a:lstStyle/>
          <a:p>
            <a:pPr>
              <a:defRPr sz="1600" b="1">
                <a:solidFill>
                  <a:srgbClr val="C23921"/>
                </a:solidFill>
                <a:latin typeface="Aptos"/>
              </a:defRPr>
            </a:pPr>
            <a:r>
              <a:t>Shared Cart</a:t>
            </a:r>
          </a:p>
        </p:txBody>
      </p:sp>
      <p:sp>
        <p:nvSpPr>
          <p:cNvPr id="32" name="TextBox 31"/>
          <p:cNvSpPr txBox="1"/>
          <p:nvPr/>
        </p:nvSpPr>
        <p:spPr>
          <a:xfrm>
            <a:off x="4544568" y="5486400"/>
            <a:ext cx="1152144" cy="228599"/>
          </a:xfrm>
          <a:prstGeom prst="rect">
            <a:avLst/>
          </a:prstGeom>
          <a:noFill/>
        </p:spPr>
        <p:txBody>
          <a:bodyPr wrap="square">
            <a:spAutoFit/>
          </a:bodyPr>
          <a:lstStyle/>
          <a:p>
            <a:pPr>
              <a:defRPr sz="1250">
                <a:solidFill>
                  <a:srgbClr val="2D2623"/>
                </a:solidFill>
                <a:latin typeface="Aptos"/>
              </a:defRPr>
            </a:pPr>
            <a:r>
              <a:t>One group order</a:t>
            </a:r>
          </a:p>
        </p:txBody>
      </p:sp>
      <p:sp>
        <p:nvSpPr>
          <p:cNvPr id="33" name="Rounded Rectangle 32"/>
          <p:cNvSpPr/>
          <p:nvPr/>
        </p:nvSpPr>
        <p:spPr>
          <a:xfrm>
            <a:off x="6071616" y="4800600"/>
            <a:ext cx="1554480" cy="1051560"/>
          </a:xfrm>
          <a:prstGeom prst="roundRect">
            <a:avLst/>
          </a:prstGeom>
          <a:solidFill>
            <a:srgbClr val="FFEFE2"/>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72783" y="4965192"/>
            <a:ext cx="1170432" cy="411480"/>
          </a:xfrm>
          <a:prstGeom prst="rect">
            <a:avLst/>
          </a:prstGeom>
          <a:noFill/>
        </p:spPr>
        <p:txBody>
          <a:bodyPr wrap="none">
            <a:spAutoFit/>
          </a:bodyPr>
          <a:lstStyle/>
          <a:p>
            <a:pPr>
              <a:defRPr sz="1600" b="1">
                <a:solidFill>
                  <a:srgbClr val="C23921"/>
                </a:solidFill>
                <a:latin typeface="Aptos"/>
              </a:defRPr>
            </a:pPr>
            <a:r>
              <a:t>Ownership</a:t>
            </a:r>
          </a:p>
        </p:txBody>
      </p:sp>
      <p:sp>
        <p:nvSpPr>
          <p:cNvPr id="35" name="TextBox 34"/>
          <p:cNvSpPr txBox="1"/>
          <p:nvPr/>
        </p:nvSpPr>
        <p:spPr>
          <a:xfrm>
            <a:off x="6272783" y="5486400"/>
            <a:ext cx="1152144" cy="228599"/>
          </a:xfrm>
          <a:prstGeom prst="rect">
            <a:avLst/>
          </a:prstGeom>
          <a:noFill/>
        </p:spPr>
        <p:txBody>
          <a:bodyPr wrap="square">
            <a:spAutoFit/>
          </a:bodyPr>
          <a:lstStyle/>
          <a:p>
            <a:pPr>
              <a:defRPr sz="1250">
                <a:solidFill>
                  <a:srgbClr val="2D2623"/>
                </a:solidFill>
                <a:latin typeface="Aptos"/>
              </a:defRPr>
            </a:pPr>
            <a:r>
              <a:t>Member-wise items</a:t>
            </a:r>
          </a:p>
        </p:txBody>
      </p:sp>
      <p:sp>
        <p:nvSpPr>
          <p:cNvPr id="36" name="Rounded Rectangle 35"/>
          <p:cNvSpPr/>
          <p:nvPr/>
        </p:nvSpPr>
        <p:spPr>
          <a:xfrm>
            <a:off x="7799831" y="4800600"/>
            <a:ext cx="1554480" cy="1051560"/>
          </a:xfrm>
          <a:prstGeom prst="roundRect">
            <a:avLst/>
          </a:prstGeom>
          <a:solidFill>
            <a:srgbClr val="FFEFE2"/>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01000" y="4965192"/>
            <a:ext cx="1170431" cy="411480"/>
          </a:xfrm>
          <a:prstGeom prst="rect">
            <a:avLst/>
          </a:prstGeom>
          <a:noFill/>
        </p:spPr>
        <p:txBody>
          <a:bodyPr wrap="none">
            <a:spAutoFit/>
          </a:bodyPr>
          <a:lstStyle/>
          <a:p>
            <a:pPr>
              <a:defRPr sz="1600" b="1">
                <a:solidFill>
                  <a:srgbClr val="C23921"/>
                </a:solidFill>
                <a:latin typeface="Aptos"/>
              </a:defRPr>
            </a:pPr>
            <a:r>
              <a:t>Split Bill</a:t>
            </a:r>
          </a:p>
        </p:txBody>
      </p:sp>
      <p:sp>
        <p:nvSpPr>
          <p:cNvPr id="38" name="TextBox 37"/>
          <p:cNvSpPr txBox="1"/>
          <p:nvPr/>
        </p:nvSpPr>
        <p:spPr>
          <a:xfrm>
            <a:off x="8001000" y="5486400"/>
            <a:ext cx="1152144" cy="228599"/>
          </a:xfrm>
          <a:prstGeom prst="rect">
            <a:avLst/>
          </a:prstGeom>
          <a:noFill/>
        </p:spPr>
        <p:txBody>
          <a:bodyPr wrap="square">
            <a:spAutoFit/>
          </a:bodyPr>
          <a:lstStyle/>
          <a:p>
            <a:pPr>
              <a:defRPr sz="1250">
                <a:solidFill>
                  <a:srgbClr val="2D2623"/>
                </a:solidFill>
                <a:latin typeface="Aptos"/>
              </a:defRPr>
            </a:pPr>
            <a:r>
              <a:t>Individual contribution</a:t>
            </a:r>
          </a:p>
        </p:txBody>
      </p:sp>
      <p:sp>
        <p:nvSpPr>
          <p:cNvPr id="39" name="Rounded Rectangle 38"/>
          <p:cNvSpPr/>
          <p:nvPr/>
        </p:nvSpPr>
        <p:spPr>
          <a:xfrm>
            <a:off x="9528048" y="4800600"/>
            <a:ext cx="1554480" cy="1051560"/>
          </a:xfrm>
          <a:prstGeom prst="roundRect">
            <a:avLst/>
          </a:prstGeom>
          <a:solidFill>
            <a:srgbClr val="FFEFE2"/>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29216" y="4965192"/>
            <a:ext cx="1170431" cy="411480"/>
          </a:xfrm>
          <a:prstGeom prst="rect">
            <a:avLst/>
          </a:prstGeom>
          <a:noFill/>
        </p:spPr>
        <p:txBody>
          <a:bodyPr wrap="none">
            <a:spAutoFit/>
          </a:bodyPr>
          <a:lstStyle/>
          <a:p>
            <a:pPr>
              <a:defRPr sz="1600" b="1">
                <a:solidFill>
                  <a:srgbClr val="C23921"/>
                </a:solidFill>
                <a:latin typeface="Aptos"/>
              </a:defRPr>
            </a:pPr>
            <a:r>
              <a:t>Live Updates</a:t>
            </a:r>
          </a:p>
        </p:txBody>
      </p:sp>
      <p:sp>
        <p:nvSpPr>
          <p:cNvPr id="41" name="TextBox 40"/>
          <p:cNvSpPr txBox="1"/>
          <p:nvPr/>
        </p:nvSpPr>
        <p:spPr>
          <a:xfrm>
            <a:off x="9729216" y="5486400"/>
            <a:ext cx="1152144" cy="228599"/>
          </a:xfrm>
          <a:prstGeom prst="rect">
            <a:avLst/>
          </a:prstGeom>
          <a:noFill/>
        </p:spPr>
        <p:txBody>
          <a:bodyPr wrap="square">
            <a:spAutoFit/>
          </a:bodyPr>
          <a:lstStyle/>
          <a:p>
            <a:pPr>
              <a:defRPr sz="1250">
                <a:solidFill>
                  <a:srgbClr val="2D2623"/>
                </a:solidFill>
                <a:latin typeface="Aptos"/>
              </a:defRPr>
            </a:pPr>
            <a:r>
              <a:t>Socket.IO events</a:t>
            </a:r>
          </a:p>
        </p:txBody>
      </p:sp>
      <p:sp>
        <p:nvSpPr>
          <p:cNvPr id="42" name="TextBox 41"/>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7</a:t>
            </a:r>
          </a:p>
        </p:txBody>
      </p:sp>
      <p:sp>
        <p:nvSpPr>
          <p:cNvPr id="43" name="TextBox 42"/>
          <p:cNvSpPr txBox="1"/>
          <p:nvPr/>
        </p:nvSpPr>
        <p:spPr>
          <a:xfrm>
            <a:off x="4343400" y="5897880"/>
            <a:ext cx="6903720" cy="411480"/>
          </a:xfrm>
          <a:prstGeom prst="rect">
            <a:avLst/>
          </a:prstGeom>
          <a:noFill/>
        </p:spPr>
        <p:txBody>
          <a:bodyPr wrap="none">
            <a:spAutoFit/>
          </a:bodyPr>
          <a:lstStyle/>
          <a:p>
            <a:pPr>
              <a:defRPr sz="1250" b="1">
                <a:solidFill>
                  <a:srgbClr val="C23921"/>
                </a:solidFill>
                <a:latin typeface="Aptos"/>
              </a:defRPr>
            </a:pPr>
            <a:r>
              <a:t>✓ Split Bill Feature: the final group bill is divided among participants for individual payment.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7. Technology Stack &amp; Architecture</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Full-stack implementation used for the FoodFlow prototype</a:t>
            </a:r>
          </a:p>
        </p:txBody>
      </p:sp>
      <p:sp>
        <p:nvSpPr>
          <p:cNvPr id="6" name="Rounded Rectangle 5"/>
          <p:cNvSpPr/>
          <p:nvPr/>
        </p:nvSpPr>
        <p:spPr>
          <a:xfrm>
            <a:off x="640080" y="1417320"/>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581912"/>
            <a:ext cx="3044952" cy="411480"/>
          </a:xfrm>
          <a:prstGeom prst="rect">
            <a:avLst/>
          </a:prstGeom>
          <a:noFill/>
        </p:spPr>
        <p:txBody>
          <a:bodyPr wrap="none">
            <a:spAutoFit/>
          </a:bodyPr>
          <a:lstStyle/>
          <a:p>
            <a:pPr>
              <a:defRPr sz="1600" b="1">
                <a:solidFill>
                  <a:srgbClr val="C23921"/>
                </a:solidFill>
                <a:latin typeface="Aptos"/>
              </a:defRPr>
            </a:pPr>
            <a:r>
              <a:t>Frontend</a:t>
            </a:r>
          </a:p>
        </p:txBody>
      </p:sp>
      <p:sp>
        <p:nvSpPr>
          <p:cNvPr id="8" name="TextBox 7"/>
          <p:cNvSpPr txBox="1"/>
          <p:nvPr/>
        </p:nvSpPr>
        <p:spPr>
          <a:xfrm>
            <a:off x="841247" y="2103120"/>
            <a:ext cx="3026664" cy="914399"/>
          </a:xfrm>
          <a:prstGeom prst="rect">
            <a:avLst/>
          </a:prstGeom>
          <a:noFill/>
        </p:spPr>
        <p:txBody>
          <a:bodyPr wrap="square">
            <a:spAutoFit/>
          </a:bodyPr>
          <a:lstStyle/>
          <a:p>
            <a:pPr>
              <a:defRPr sz="1250">
                <a:solidFill>
                  <a:srgbClr val="2D2623"/>
                </a:solidFill>
                <a:latin typeface="Aptos"/>
              </a:defRPr>
            </a:pPr>
            <a:r>
              <a:t>React + Vite — Responsive user interface</a:t>
            </a:r>
          </a:p>
        </p:txBody>
      </p:sp>
      <p:sp>
        <p:nvSpPr>
          <p:cNvPr id="9" name="Rounded Rectangle 8"/>
          <p:cNvSpPr/>
          <p:nvPr/>
        </p:nvSpPr>
        <p:spPr>
          <a:xfrm>
            <a:off x="4389120" y="1417320"/>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581912"/>
            <a:ext cx="3044952" cy="411480"/>
          </a:xfrm>
          <a:prstGeom prst="rect">
            <a:avLst/>
          </a:prstGeom>
          <a:noFill/>
        </p:spPr>
        <p:txBody>
          <a:bodyPr wrap="none">
            <a:spAutoFit/>
          </a:bodyPr>
          <a:lstStyle/>
          <a:p>
            <a:pPr>
              <a:defRPr sz="1600" b="1">
                <a:solidFill>
                  <a:srgbClr val="C23921"/>
                </a:solidFill>
                <a:latin typeface="Aptos"/>
              </a:defRPr>
            </a:pPr>
            <a:r>
              <a:t>Backend</a:t>
            </a:r>
          </a:p>
        </p:txBody>
      </p:sp>
      <p:sp>
        <p:nvSpPr>
          <p:cNvPr id="11" name="TextBox 10"/>
          <p:cNvSpPr txBox="1"/>
          <p:nvPr/>
        </p:nvSpPr>
        <p:spPr>
          <a:xfrm>
            <a:off x="4590288" y="2103120"/>
            <a:ext cx="3026664" cy="914399"/>
          </a:xfrm>
          <a:prstGeom prst="rect">
            <a:avLst/>
          </a:prstGeom>
          <a:noFill/>
        </p:spPr>
        <p:txBody>
          <a:bodyPr wrap="square">
            <a:spAutoFit/>
          </a:bodyPr>
          <a:lstStyle/>
          <a:p>
            <a:pPr>
              <a:defRPr sz="1250">
                <a:solidFill>
                  <a:srgbClr val="2D2623"/>
                </a:solidFill>
                <a:latin typeface="Aptos"/>
              </a:defRPr>
            </a:pPr>
            <a:r>
              <a:t>Node.js + Express — REST APIs and business logic</a:t>
            </a:r>
          </a:p>
        </p:txBody>
      </p:sp>
      <p:sp>
        <p:nvSpPr>
          <p:cNvPr id="12" name="Rounded Rectangle 11"/>
          <p:cNvSpPr/>
          <p:nvPr/>
        </p:nvSpPr>
        <p:spPr>
          <a:xfrm>
            <a:off x="8138159" y="1417320"/>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1581912"/>
            <a:ext cx="3044951" cy="411480"/>
          </a:xfrm>
          <a:prstGeom prst="rect">
            <a:avLst/>
          </a:prstGeom>
          <a:noFill/>
        </p:spPr>
        <p:txBody>
          <a:bodyPr wrap="none">
            <a:spAutoFit/>
          </a:bodyPr>
          <a:lstStyle/>
          <a:p>
            <a:pPr>
              <a:defRPr sz="1600" b="1">
                <a:solidFill>
                  <a:srgbClr val="C23921"/>
                </a:solidFill>
                <a:latin typeface="Aptos"/>
              </a:defRPr>
            </a:pPr>
            <a:r>
              <a:t>Database</a:t>
            </a:r>
          </a:p>
        </p:txBody>
      </p:sp>
      <p:sp>
        <p:nvSpPr>
          <p:cNvPr id="14" name="TextBox 13"/>
          <p:cNvSpPr txBox="1"/>
          <p:nvPr/>
        </p:nvSpPr>
        <p:spPr>
          <a:xfrm>
            <a:off x="8339327" y="2103120"/>
            <a:ext cx="3026664" cy="914399"/>
          </a:xfrm>
          <a:prstGeom prst="rect">
            <a:avLst/>
          </a:prstGeom>
          <a:noFill/>
        </p:spPr>
        <p:txBody>
          <a:bodyPr wrap="square">
            <a:spAutoFit/>
          </a:bodyPr>
          <a:lstStyle/>
          <a:p>
            <a:pPr>
              <a:defRPr sz="1250">
                <a:solidFill>
                  <a:srgbClr val="2D2623"/>
                </a:solidFill>
                <a:latin typeface="Aptos"/>
              </a:defRPr>
            </a:pPr>
            <a:r>
              <a:t>MySQL — Users, restaurants, menu, orders and payments</a:t>
            </a:r>
          </a:p>
        </p:txBody>
      </p:sp>
      <p:sp>
        <p:nvSpPr>
          <p:cNvPr id="15" name="Rounded Rectangle 14"/>
          <p:cNvSpPr/>
          <p:nvPr/>
        </p:nvSpPr>
        <p:spPr>
          <a:xfrm>
            <a:off x="640080" y="3520439"/>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685031"/>
            <a:ext cx="3044952" cy="411480"/>
          </a:xfrm>
          <a:prstGeom prst="rect">
            <a:avLst/>
          </a:prstGeom>
          <a:noFill/>
        </p:spPr>
        <p:txBody>
          <a:bodyPr wrap="none">
            <a:spAutoFit/>
          </a:bodyPr>
          <a:lstStyle/>
          <a:p>
            <a:pPr>
              <a:defRPr sz="1600" b="1">
                <a:solidFill>
                  <a:srgbClr val="C23921"/>
                </a:solidFill>
                <a:latin typeface="Aptos"/>
              </a:defRPr>
            </a:pPr>
            <a:r>
              <a:t>Real-time</a:t>
            </a:r>
          </a:p>
        </p:txBody>
      </p:sp>
      <p:sp>
        <p:nvSpPr>
          <p:cNvPr id="17" name="TextBox 16"/>
          <p:cNvSpPr txBox="1"/>
          <p:nvPr/>
        </p:nvSpPr>
        <p:spPr>
          <a:xfrm>
            <a:off x="841247" y="4206240"/>
            <a:ext cx="3026664" cy="914399"/>
          </a:xfrm>
          <a:prstGeom prst="rect">
            <a:avLst/>
          </a:prstGeom>
          <a:noFill/>
        </p:spPr>
        <p:txBody>
          <a:bodyPr wrap="square">
            <a:spAutoFit/>
          </a:bodyPr>
          <a:lstStyle/>
          <a:p>
            <a:pPr>
              <a:defRPr sz="1250">
                <a:solidFill>
                  <a:srgbClr val="2D2623"/>
                </a:solidFill>
                <a:latin typeface="Aptos"/>
              </a:defRPr>
            </a:pPr>
            <a:r>
              <a:t>Socket.IO — Live order/group updates</a:t>
            </a:r>
          </a:p>
        </p:txBody>
      </p:sp>
      <p:sp>
        <p:nvSpPr>
          <p:cNvPr id="18" name="Rounded Rectangle 17"/>
          <p:cNvSpPr/>
          <p:nvPr/>
        </p:nvSpPr>
        <p:spPr>
          <a:xfrm>
            <a:off x="4389120" y="3520439"/>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685031"/>
            <a:ext cx="3044952" cy="411480"/>
          </a:xfrm>
          <a:prstGeom prst="rect">
            <a:avLst/>
          </a:prstGeom>
          <a:noFill/>
        </p:spPr>
        <p:txBody>
          <a:bodyPr wrap="none">
            <a:spAutoFit/>
          </a:bodyPr>
          <a:lstStyle/>
          <a:p>
            <a:pPr>
              <a:defRPr sz="1600" b="1">
                <a:solidFill>
                  <a:srgbClr val="C23921"/>
                </a:solidFill>
                <a:latin typeface="Aptos"/>
              </a:defRPr>
            </a:pPr>
            <a:r>
              <a:t>Security</a:t>
            </a:r>
          </a:p>
        </p:txBody>
      </p:sp>
      <p:sp>
        <p:nvSpPr>
          <p:cNvPr id="20" name="TextBox 19"/>
          <p:cNvSpPr txBox="1"/>
          <p:nvPr/>
        </p:nvSpPr>
        <p:spPr>
          <a:xfrm>
            <a:off x="4590288" y="4206240"/>
            <a:ext cx="3026664" cy="914399"/>
          </a:xfrm>
          <a:prstGeom prst="rect">
            <a:avLst/>
          </a:prstGeom>
          <a:noFill/>
        </p:spPr>
        <p:txBody>
          <a:bodyPr wrap="square">
            <a:spAutoFit/>
          </a:bodyPr>
          <a:lstStyle/>
          <a:p>
            <a:pPr>
              <a:defRPr sz="1250">
                <a:solidFill>
                  <a:srgbClr val="2D2623"/>
                </a:solidFill>
                <a:latin typeface="Aptos"/>
              </a:defRPr>
            </a:pPr>
            <a:r>
              <a:t>JWT + bcryptjs — Authentication and password protection</a:t>
            </a:r>
          </a:p>
        </p:txBody>
      </p:sp>
      <p:sp>
        <p:nvSpPr>
          <p:cNvPr id="21" name="Rounded Rectangle 20"/>
          <p:cNvSpPr/>
          <p:nvPr/>
        </p:nvSpPr>
        <p:spPr>
          <a:xfrm>
            <a:off x="8138159" y="3520439"/>
            <a:ext cx="3429000" cy="173736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3685031"/>
            <a:ext cx="3044951" cy="411480"/>
          </a:xfrm>
          <a:prstGeom prst="rect">
            <a:avLst/>
          </a:prstGeom>
          <a:noFill/>
        </p:spPr>
        <p:txBody>
          <a:bodyPr wrap="none">
            <a:spAutoFit/>
          </a:bodyPr>
          <a:lstStyle/>
          <a:p>
            <a:pPr>
              <a:defRPr sz="1600" b="1">
                <a:solidFill>
                  <a:srgbClr val="C23921"/>
                </a:solidFill>
                <a:latin typeface="Aptos"/>
              </a:defRPr>
            </a:pPr>
            <a:r>
              <a:t>Integration</a:t>
            </a:r>
          </a:p>
        </p:txBody>
      </p:sp>
      <p:sp>
        <p:nvSpPr>
          <p:cNvPr id="23" name="TextBox 22"/>
          <p:cNvSpPr txBox="1"/>
          <p:nvPr/>
        </p:nvSpPr>
        <p:spPr>
          <a:xfrm>
            <a:off x="8339327" y="4206240"/>
            <a:ext cx="3026664" cy="914399"/>
          </a:xfrm>
          <a:prstGeom prst="rect">
            <a:avLst/>
          </a:prstGeom>
          <a:noFill/>
        </p:spPr>
        <p:txBody>
          <a:bodyPr wrap="square">
            <a:spAutoFit/>
          </a:bodyPr>
          <a:lstStyle/>
          <a:p>
            <a:pPr>
              <a:defRPr sz="1250">
                <a:solidFill>
                  <a:srgbClr val="2D2623"/>
                </a:solidFill>
                <a:latin typeface="Aptos"/>
              </a:defRPr>
            </a:pPr>
            <a:r>
              <a:t>Razorpay + Maps — Payments and location services</a:t>
            </a:r>
          </a:p>
        </p:txBody>
      </p:sp>
      <p:sp>
        <p:nvSpPr>
          <p:cNvPr id="24" name="Rounded Rectangle 23"/>
          <p:cNvSpPr/>
          <p:nvPr/>
        </p:nvSpPr>
        <p:spPr>
          <a:xfrm>
            <a:off x="822960" y="5715000"/>
            <a:ext cx="1828800" cy="530352"/>
          </a:xfrm>
          <a:prstGeom prst="round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824728"/>
            <a:ext cx="1682496" cy="320040"/>
          </a:xfrm>
          <a:prstGeom prst="rect">
            <a:avLst/>
          </a:prstGeom>
          <a:noFill/>
        </p:spPr>
        <p:txBody>
          <a:bodyPr wrap="none">
            <a:spAutoFit/>
          </a:bodyPr>
          <a:lstStyle/>
          <a:p>
            <a:pPr algn="ctr">
              <a:defRPr sz="950" b="1">
                <a:solidFill>
                  <a:srgbClr val="FFFFFF"/>
                </a:solidFill>
              </a:defRPr>
            </a:pPr>
            <a:r>
              <a:t>Customer / Restaurant UI</a:t>
            </a:r>
          </a:p>
        </p:txBody>
      </p:sp>
      <p:cxnSp>
        <p:nvCxnSpPr>
          <p:cNvPr id="26" name="Connector 25"/>
          <p:cNvCxnSpPr/>
          <p:nvPr/>
        </p:nvCxnSpPr>
        <p:spPr>
          <a:xfrm>
            <a:off x="2651760" y="5980176"/>
            <a:ext cx="1005840" cy="0"/>
          </a:xfrm>
          <a:prstGeom prst="line">
            <a:avLst/>
          </a:prstGeom>
          <a:ln w="25400">
            <a:solidFill>
              <a:srgbClr val="EF7E3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657600" y="5715000"/>
            <a:ext cx="1828800" cy="530352"/>
          </a:xfrm>
          <a:prstGeom prst="round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30752" y="5824728"/>
            <a:ext cx="1682496" cy="320040"/>
          </a:xfrm>
          <a:prstGeom prst="rect">
            <a:avLst/>
          </a:prstGeom>
          <a:noFill/>
        </p:spPr>
        <p:txBody>
          <a:bodyPr wrap="none">
            <a:spAutoFit/>
          </a:bodyPr>
          <a:lstStyle/>
          <a:p>
            <a:pPr algn="ctr">
              <a:defRPr sz="950" b="1">
                <a:solidFill>
                  <a:srgbClr val="FFFFFF"/>
                </a:solidFill>
              </a:defRPr>
            </a:pPr>
            <a:r>
              <a:t>Express API</a:t>
            </a:r>
          </a:p>
        </p:txBody>
      </p:sp>
      <p:cxnSp>
        <p:nvCxnSpPr>
          <p:cNvPr id="29" name="Connector 28"/>
          <p:cNvCxnSpPr/>
          <p:nvPr/>
        </p:nvCxnSpPr>
        <p:spPr>
          <a:xfrm>
            <a:off x="5486400" y="5980176"/>
            <a:ext cx="914400" cy="0"/>
          </a:xfrm>
          <a:prstGeom prst="line">
            <a:avLst/>
          </a:prstGeom>
          <a:ln w="25400">
            <a:solidFill>
              <a:srgbClr val="EF7E3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400800" y="5715000"/>
            <a:ext cx="1828800" cy="530352"/>
          </a:xfrm>
          <a:prstGeom prst="round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5824728"/>
            <a:ext cx="1682496" cy="320040"/>
          </a:xfrm>
          <a:prstGeom prst="rect">
            <a:avLst/>
          </a:prstGeom>
          <a:noFill/>
        </p:spPr>
        <p:txBody>
          <a:bodyPr wrap="none">
            <a:spAutoFit/>
          </a:bodyPr>
          <a:lstStyle/>
          <a:p>
            <a:pPr algn="ctr">
              <a:defRPr sz="950" b="1">
                <a:solidFill>
                  <a:srgbClr val="FFFFFF"/>
                </a:solidFill>
              </a:defRPr>
            </a:pPr>
            <a:r>
              <a:t>MySQL</a:t>
            </a:r>
          </a:p>
        </p:txBody>
      </p:sp>
      <p:cxnSp>
        <p:nvCxnSpPr>
          <p:cNvPr id="32" name="Connector 31"/>
          <p:cNvCxnSpPr/>
          <p:nvPr/>
        </p:nvCxnSpPr>
        <p:spPr>
          <a:xfrm>
            <a:off x="8229600" y="5980176"/>
            <a:ext cx="914400" cy="0"/>
          </a:xfrm>
          <a:prstGeom prst="line">
            <a:avLst/>
          </a:prstGeom>
          <a:ln w="25400">
            <a:solidFill>
              <a:srgbClr val="EF7E3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144000" y="5715000"/>
            <a:ext cx="1828800" cy="530352"/>
          </a:xfrm>
          <a:prstGeom prst="round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17152" y="5824728"/>
            <a:ext cx="1682496" cy="320040"/>
          </a:xfrm>
          <a:prstGeom prst="rect">
            <a:avLst/>
          </a:prstGeom>
          <a:noFill/>
        </p:spPr>
        <p:txBody>
          <a:bodyPr wrap="none">
            <a:spAutoFit/>
          </a:bodyPr>
          <a:lstStyle/>
          <a:p>
            <a:pPr algn="ctr">
              <a:defRPr sz="950" b="1">
                <a:solidFill>
                  <a:srgbClr val="FFFFFF"/>
                </a:solidFill>
              </a:defRPr>
            </a:pPr>
            <a:r>
              <a:t>Socket.IO</a:t>
            </a:r>
          </a:p>
        </p:txBody>
      </p:sp>
      <p:sp>
        <p:nvSpPr>
          <p:cNvPr id="35" name="TextBox 34"/>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8. Major Modules</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Functional decomposition of the platform</a:t>
            </a:r>
          </a:p>
        </p:txBody>
      </p:sp>
      <p:sp>
        <p:nvSpPr>
          <p:cNvPr id="6" name="Rounded Rectangle 5"/>
          <p:cNvSpPr/>
          <p:nvPr/>
        </p:nvSpPr>
        <p:spPr>
          <a:xfrm>
            <a:off x="685800" y="1371600"/>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53619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45336"/>
            <a:ext cx="438912" cy="384048"/>
          </a:xfrm>
          <a:prstGeom prst="rect">
            <a:avLst/>
          </a:prstGeom>
          <a:noFill/>
        </p:spPr>
        <p:txBody>
          <a:bodyPr wrap="none">
            <a:spAutoFit/>
          </a:bodyPr>
          <a:lstStyle/>
          <a:p>
            <a:pPr algn="ctr">
              <a:defRPr sz="1800" b="1">
                <a:solidFill>
                  <a:srgbClr val="C23921"/>
                </a:solidFill>
              </a:defRPr>
            </a:pPr>
            <a:r>
              <a:t>1</a:t>
            </a:r>
          </a:p>
        </p:txBody>
      </p:sp>
      <p:sp>
        <p:nvSpPr>
          <p:cNvPr id="9" name="TextBox 8"/>
          <p:cNvSpPr txBox="1"/>
          <p:nvPr/>
        </p:nvSpPr>
        <p:spPr>
          <a:xfrm>
            <a:off x="1399032" y="1536192"/>
            <a:ext cx="4270248" cy="411480"/>
          </a:xfrm>
          <a:prstGeom prst="rect">
            <a:avLst/>
          </a:prstGeom>
          <a:noFill/>
        </p:spPr>
        <p:txBody>
          <a:bodyPr wrap="none">
            <a:spAutoFit/>
          </a:bodyPr>
          <a:lstStyle/>
          <a:p>
            <a:pPr>
              <a:defRPr sz="1600" b="1">
                <a:solidFill>
                  <a:srgbClr val="C23921"/>
                </a:solidFill>
                <a:latin typeface="Aptos"/>
              </a:defRPr>
            </a:pPr>
            <a:r>
              <a:t>Customer Module</a:t>
            </a:r>
          </a:p>
        </p:txBody>
      </p:sp>
      <p:sp>
        <p:nvSpPr>
          <p:cNvPr id="10" name="TextBox 9"/>
          <p:cNvSpPr txBox="1"/>
          <p:nvPr/>
        </p:nvSpPr>
        <p:spPr>
          <a:xfrm>
            <a:off x="886968" y="2057400"/>
            <a:ext cx="4764024" cy="475487"/>
          </a:xfrm>
          <a:prstGeom prst="rect">
            <a:avLst/>
          </a:prstGeom>
          <a:noFill/>
        </p:spPr>
        <p:txBody>
          <a:bodyPr wrap="square">
            <a:spAutoFit/>
          </a:bodyPr>
          <a:lstStyle/>
          <a:p>
            <a:pPr>
              <a:defRPr sz="1250">
                <a:solidFill>
                  <a:srgbClr val="2D2623"/>
                </a:solidFill>
                <a:latin typeface="Aptos"/>
              </a:defRPr>
            </a:pPr>
            <a:r>
              <a:t>Registration, login, restaurant browsing, menu, cart, checkout, orders</a:t>
            </a:r>
          </a:p>
        </p:txBody>
      </p:sp>
      <p:sp>
        <p:nvSpPr>
          <p:cNvPr id="11" name="Rounded Rectangle 10"/>
          <p:cNvSpPr/>
          <p:nvPr/>
        </p:nvSpPr>
        <p:spPr>
          <a:xfrm>
            <a:off x="6217920" y="1371600"/>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2512" y="1536192"/>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45336"/>
            <a:ext cx="438912" cy="384048"/>
          </a:xfrm>
          <a:prstGeom prst="rect">
            <a:avLst/>
          </a:prstGeom>
          <a:noFill/>
        </p:spPr>
        <p:txBody>
          <a:bodyPr wrap="none">
            <a:spAutoFit/>
          </a:bodyPr>
          <a:lstStyle/>
          <a:p>
            <a:pPr algn="ctr">
              <a:defRPr sz="1800" b="1">
                <a:solidFill>
                  <a:srgbClr val="C23921"/>
                </a:solidFill>
              </a:defRPr>
            </a:pPr>
            <a:r>
              <a:t>2</a:t>
            </a:r>
          </a:p>
        </p:txBody>
      </p:sp>
      <p:sp>
        <p:nvSpPr>
          <p:cNvPr id="14" name="TextBox 13"/>
          <p:cNvSpPr txBox="1"/>
          <p:nvPr/>
        </p:nvSpPr>
        <p:spPr>
          <a:xfrm>
            <a:off x="6931152" y="1536192"/>
            <a:ext cx="4270248" cy="411480"/>
          </a:xfrm>
          <a:prstGeom prst="rect">
            <a:avLst/>
          </a:prstGeom>
          <a:noFill/>
        </p:spPr>
        <p:txBody>
          <a:bodyPr wrap="none">
            <a:spAutoFit/>
          </a:bodyPr>
          <a:lstStyle/>
          <a:p>
            <a:pPr>
              <a:defRPr sz="1600" b="1">
                <a:solidFill>
                  <a:srgbClr val="C23921"/>
                </a:solidFill>
                <a:latin typeface="Aptos"/>
              </a:defRPr>
            </a:pPr>
            <a:r>
              <a:t>Restaurant Module</a:t>
            </a:r>
          </a:p>
        </p:txBody>
      </p:sp>
      <p:sp>
        <p:nvSpPr>
          <p:cNvPr id="15" name="TextBox 14"/>
          <p:cNvSpPr txBox="1"/>
          <p:nvPr/>
        </p:nvSpPr>
        <p:spPr>
          <a:xfrm>
            <a:off x="6419088" y="2057400"/>
            <a:ext cx="4764024" cy="475487"/>
          </a:xfrm>
          <a:prstGeom prst="rect">
            <a:avLst/>
          </a:prstGeom>
          <a:noFill/>
        </p:spPr>
        <p:txBody>
          <a:bodyPr wrap="square">
            <a:spAutoFit/>
          </a:bodyPr>
          <a:lstStyle/>
          <a:p>
            <a:pPr>
              <a:defRPr sz="1250">
                <a:solidFill>
                  <a:srgbClr val="2D2623"/>
                </a:solidFill>
                <a:latin typeface="Aptos"/>
              </a:defRPr>
            </a:pPr>
            <a:r>
              <a:t>Restaurant profile, menu management, order acceptance and status</a:t>
            </a:r>
          </a:p>
        </p:txBody>
      </p:sp>
      <p:sp>
        <p:nvSpPr>
          <p:cNvPr id="16" name="Rounded Rectangle 15"/>
          <p:cNvSpPr/>
          <p:nvPr/>
        </p:nvSpPr>
        <p:spPr>
          <a:xfrm>
            <a:off x="685800" y="2944368"/>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0392" y="3108960"/>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118103"/>
            <a:ext cx="438912" cy="384048"/>
          </a:xfrm>
          <a:prstGeom prst="rect">
            <a:avLst/>
          </a:prstGeom>
          <a:noFill/>
        </p:spPr>
        <p:txBody>
          <a:bodyPr wrap="none">
            <a:spAutoFit/>
          </a:bodyPr>
          <a:lstStyle/>
          <a:p>
            <a:pPr algn="ctr">
              <a:defRPr sz="1800" b="1">
                <a:solidFill>
                  <a:srgbClr val="C23921"/>
                </a:solidFill>
              </a:defRPr>
            </a:pPr>
            <a:r>
              <a:t>3</a:t>
            </a:r>
          </a:p>
        </p:txBody>
      </p:sp>
      <p:sp>
        <p:nvSpPr>
          <p:cNvPr id="19" name="TextBox 18"/>
          <p:cNvSpPr txBox="1"/>
          <p:nvPr/>
        </p:nvSpPr>
        <p:spPr>
          <a:xfrm>
            <a:off x="1399032" y="3108960"/>
            <a:ext cx="4270248" cy="411480"/>
          </a:xfrm>
          <a:prstGeom prst="rect">
            <a:avLst/>
          </a:prstGeom>
          <a:noFill/>
        </p:spPr>
        <p:txBody>
          <a:bodyPr wrap="none">
            <a:spAutoFit/>
          </a:bodyPr>
          <a:lstStyle/>
          <a:p>
            <a:pPr>
              <a:defRPr sz="1600" b="1">
                <a:solidFill>
                  <a:srgbClr val="C23921"/>
                </a:solidFill>
                <a:latin typeface="Aptos"/>
              </a:defRPr>
            </a:pPr>
            <a:r>
              <a:t>Delivery Module</a:t>
            </a:r>
          </a:p>
        </p:txBody>
      </p:sp>
      <p:sp>
        <p:nvSpPr>
          <p:cNvPr id="20" name="TextBox 19"/>
          <p:cNvSpPr txBox="1"/>
          <p:nvPr/>
        </p:nvSpPr>
        <p:spPr>
          <a:xfrm>
            <a:off x="886968" y="3630168"/>
            <a:ext cx="4764024" cy="475487"/>
          </a:xfrm>
          <a:prstGeom prst="rect">
            <a:avLst/>
          </a:prstGeom>
          <a:noFill/>
        </p:spPr>
        <p:txBody>
          <a:bodyPr wrap="square">
            <a:spAutoFit/>
          </a:bodyPr>
          <a:lstStyle/>
          <a:p>
            <a:pPr>
              <a:defRPr sz="1250">
                <a:solidFill>
                  <a:srgbClr val="2D2623"/>
                </a:solidFill>
                <a:latin typeface="Aptos"/>
              </a:defRPr>
            </a:pPr>
            <a:r>
              <a:t>Delivery assignment, status updates and location-related services</a:t>
            </a:r>
          </a:p>
        </p:txBody>
      </p:sp>
      <p:sp>
        <p:nvSpPr>
          <p:cNvPr id="21" name="Rounded Rectangle 20"/>
          <p:cNvSpPr/>
          <p:nvPr/>
        </p:nvSpPr>
        <p:spPr>
          <a:xfrm>
            <a:off x="6217920" y="2944368"/>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82512" y="3108960"/>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118103"/>
            <a:ext cx="438912" cy="384048"/>
          </a:xfrm>
          <a:prstGeom prst="rect">
            <a:avLst/>
          </a:prstGeom>
          <a:noFill/>
        </p:spPr>
        <p:txBody>
          <a:bodyPr wrap="none">
            <a:spAutoFit/>
          </a:bodyPr>
          <a:lstStyle/>
          <a:p>
            <a:pPr algn="ctr">
              <a:defRPr sz="1800" b="1">
                <a:solidFill>
                  <a:srgbClr val="C23921"/>
                </a:solidFill>
              </a:defRPr>
            </a:pPr>
            <a:r>
              <a:t>4</a:t>
            </a:r>
          </a:p>
        </p:txBody>
      </p:sp>
      <p:sp>
        <p:nvSpPr>
          <p:cNvPr id="24" name="TextBox 23"/>
          <p:cNvSpPr txBox="1"/>
          <p:nvPr/>
        </p:nvSpPr>
        <p:spPr>
          <a:xfrm>
            <a:off x="6931152" y="3108960"/>
            <a:ext cx="4270248" cy="411480"/>
          </a:xfrm>
          <a:prstGeom prst="rect">
            <a:avLst/>
          </a:prstGeom>
          <a:noFill/>
        </p:spPr>
        <p:txBody>
          <a:bodyPr wrap="none">
            <a:spAutoFit/>
          </a:bodyPr>
          <a:lstStyle/>
          <a:p>
            <a:pPr>
              <a:defRPr sz="1600" b="1">
                <a:solidFill>
                  <a:srgbClr val="C23921"/>
                </a:solidFill>
                <a:latin typeface="Aptos"/>
              </a:defRPr>
            </a:pPr>
            <a:r>
              <a:t>Admin Module</a:t>
            </a:r>
          </a:p>
        </p:txBody>
      </p:sp>
      <p:sp>
        <p:nvSpPr>
          <p:cNvPr id="25" name="TextBox 24"/>
          <p:cNvSpPr txBox="1"/>
          <p:nvPr/>
        </p:nvSpPr>
        <p:spPr>
          <a:xfrm>
            <a:off x="6419088" y="3630168"/>
            <a:ext cx="4764024" cy="475487"/>
          </a:xfrm>
          <a:prstGeom prst="rect">
            <a:avLst/>
          </a:prstGeom>
          <a:noFill/>
        </p:spPr>
        <p:txBody>
          <a:bodyPr wrap="square">
            <a:spAutoFit/>
          </a:bodyPr>
          <a:lstStyle/>
          <a:p>
            <a:pPr>
              <a:defRPr sz="1250">
                <a:solidFill>
                  <a:srgbClr val="2D2623"/>
                </a:solidFill>
                <a:latin typeface="Aptos"/>
              </a:defRPr>
            </a:pPr>
            <a:r>
              <a:t>User/restaurant/order monitoring and platform administration</a:t>
            </a:r>
          </a:p>
        </p:txBody>
      </p:sp>
      <p:sp>
        <p:nvSpPr>
          <p:cNvPr id="26" name="Rounded Rectangle 25"/>
          <p:cNvSpPr/>
          <p:nvPr/>
        </p:nvSpPr>
        <p:spPr>
          <a:xfrm>
            <a:off x="685800" y="4517136"/>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0392" y="4681727"/>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4690872"/>
            <a:ext cx="438912" cy="384048"/>
          </a:xfrm>
          <a:prstGeom prst="rect">
            <a:avLst/>
          </a:prstGeom>
          <a:noFill/>
        </p:spPr>
        <p:txBody>
          <a:bodyPr wrap="none">
            <a:spAutoFit/>
          </a:bodyPr>
          <a:lstStyle/>
          <a:p>
            <a:pPr algn="ctr">
              <a:defRPr sz="1800" b="1">
                <a:solidFill>
                  <a:srgbClr val="C23921"/>
                </a:solidFill>
              </a:defRPr>
            </a:pPr>
            <a:r>
              <a:t>5</a:t>
            </a:r>
          </a:p>
        </p:txBody>
      </p:sp>
      <p:sp>
        <p:nvSpPr>
          <p:cNvPr id="29" name="TextBox 28"/>
          <p:cNvSpPr txBox="1"/>
          <p:nvPr/>
        </p:nvSpPr>
        <p:spPr>
          <a:xfrm>
            <a:off x="1399032" y="4681727"/>
            <a:ext cx="4270248" cy="411480"/>
          </a:xfrm>
          <a:prstGeom prst="rect">
            <a:avLst/>
          </a:prstGeom>
          <a:noFill/>
        </p:spPr>
        <p:txBody>
          <a:bodyPr wrap="none">
            <a:spAutoFit/>
          </a:bodyPr>
          <a:lstStyle/>
          <a:p>
            <a:pPr>
              <a:defRPr sz="1600" b="1">
                <a:solidFill>
                  <a:srgbClr val="C23921"/>
                </a:solidFill>
                <a:latin typeface="Aptos"/>
              </a:defRPr>
            </a:pPr>
            <a:r>
              <a:t>Payment Module</a:t>
            </a:r>
          </a:p>
        </p:txBody>
      </p:sp>
      <p:sp>
        <p:nvSpPr>
          <p:cNvPr id="30" name="TextBox 29"/>
          <p:cNvSpPr txBox="1"/>
          <p:nvPr/>
        </p:nvSpPr>
        <p:spPr>
          <a:xfrm>
            <a:off x="886968" y="5202936"/>
            <a:ext cx="4764024" cy="475487"/>
          </a:xfrm>
          <a:prstGeom prst="rect">
            <a:avLst/>
          </a:prstGeom>
          <a:noFill/>
        </p:spPr>
        <p:txBody>
          <a:bodyPr wrap="square">
            <a:spAutoFit/>
          </a:bodyPr>
          <a:lstStyle/>
          <a:p>
            <a:pPr>
              <a:defRPr sz="1250">
                <a:solidFill>
                  <a:srgbClr val="2D2623"/>
                </a:solidFill>
                <a:latin typeface="Aptos"/>
              </a:defRPr>
            </a:pPr>
            <a:r>
              <a:t>Checkout, payment processing and transaction status</a:t>
            </a:r>
          </a:p>
        </p:txBody>
      </p:sp>
      <p:sp>
        <p:nvSpPr>
          <p:cNvPr id="31" name="Rounded Rectangle 30"/>
          <p:cNvSpPr/>
          <p:nvPr/>
        </p:nvSpPr>
        <p:spPr>
          <a:xfrm>
            <a:off x="6217920" y="4517136"/>
            <a:ext cx="5166360" cy="1298448"/>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82512" y="4681727"/>
            <a:ext cx="438912" cy="438912"/>
          </a:xfrm>
          <a:prstGeom prst="ellipse">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4690872"/>
            <a:ext cx="438912" cy="384048"/>
          </a:xfrm>
          <a:prstGeom prst="rect">
            <a:avLst/>
          </a:prstGeom>
          <a:noFill/>
        </p:spPr>
        <p:txBody>
          <a:bodyPr wrap="none">
            <a:spAutoFit/>
          </a:bodyPr>
          <a:lstStyle/>
          <a:p>
            <a:pPr algn="ctr">
              <a:defRPr sz="1800" b="1">
                <a:solidFill>
                  <a:srgbClr val="C23921"/>
                </a:solidFill>
              </a:defRPr>
            </a:pPr>
            <a:r>
              <a:t>6</a:t>
            </a:r>
          </a:p>
        </p:txBody>
      </p:sp>
      <p:sp>
        <p:nvSpPr>
          <p:cNvPr id="34" name="TextBox 33"/>
          <p:cNvSpPr txBox="1"/>
          <p:nvPr/>
        </p:nvSpPr>
        <p:spPr>
          <a:xfrm>
            <a:off x="6931152" y="4681727"/>
            <a:ext cx="4270248" cy="411480"/>
          </a:xfrm>
          <a:prstGeom prst="rect">
            <a:avLst/>
          </a:prstGeom>
          <a:noFill/>
        </p:spPr>
        <p:txBody>
          <a:bodyPr wrap="none">
            <a:spAutoFit/>
          </a:bodyPr>
          <a:lstStyle/>
          <a:p>
            <a:pPr>
              <a:defRPr sz="1600" b="1">
                <a:solidFill>
                  <a:srgbClr val="C23921"/>
                </a:solidFill>
                <a:latin typeface="Aptos"/>
              </a:defRPr>
            </a:pPr>
            <a:r>
              <a:t>Group Ordering</a:t>
            </a:r>
          </a:p>
        </p:txBody>
      </p:sp>
      <p:sp>
        <p:nvSpPr>
          <p:cNvPr id="35" name="TextBox 34"/>
          <p:cNvSpPr txBox="1"/>
          <p:nvPr/>
        </p:nvSpPr>
        <p:spPr>
          <a:xfrm>
            <a:off x="6419088" y="5202936"/>
            <a:ext cx="4764024" cy="475487"/>
          </a:xfrm>
          <a:prstGeom prst="rect">
            <a:avLst/>
          </a:prstGeom>
          <a:noFill/>
        </p:spPr>
        <p:txBody>
          <a:bodyPr wrap="square">
            <a:spAutoFit/>
          </a:bodyPr>
          <a:lstStyle/>
          <a:p>
            <a:pPr>
              <a:defRPr sz="1250">
                <a:solidFill>
                  <a:srgbClr val="2D2623"/>
                </a:solidFill>
                <a:latin typeface="Aptos"/>
              </a:defRPr>
            </a:pPr>
            <a:r>
              <a:t>Shared group code, shared cart, member ownership and split bill</a:t>
            </a:r>
          </a:p>
        </p:txBody>
      </p:sp>
      <p:sp>
        <p:nvSpPr>
          <p:cNvPr id="36" name="TextBox 35"/>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9. End-to-End System Workflow</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From discovery to delivery</a:t>
            </a:r>
          </a:p>
        </p:txBody>
      </p:sp>
      <p:sp>
        <p:nvSpPr>
          <p:cNvPr id="6" name="Rounded Rectangle 5"/>
          <p:cNvSpPr/>
          <p:nvPr/>
        </p:nvSpPr>
        <p:spPr>
          <a:xfrm>
            <a:off x="594360" y="1508760"/>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64591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73351"/>
            <a:ext cx="384048" cy="274320"/>
          </a:xfrm>
          <a:prstGeom prst="rect">
            <a:avLst/>
          </a:prstGeom>
          <a:noFill/>
        </p:spPr>
        <p:txBody>
          <a:bodyPr wrap="none">
            <a:spAutoFit/>
          </a:bodyPr>
          <a:lstStyle/>
          <a:p>
            <a:pPr algn="ctr">
              <a:defRPr sz="1100" b="1">
                <a:solidFill>
                  <a:srgbClr val="FFFFFF"/>
                </a:solidFill>
              </a:defRPr>
            </a:pPr>
            <a:r>
              <a:t>1</a:t>
            </a:r>
          </a:p>
        </p:txBody>
      </p:sp>
      <p:sp>
        <p:nvSpPr>
          <p:cNvPr id="9" name="TextBox 8"/>
          <p:cNvSpPr txBox="1"/>
          <p:nvPr/>
        </p:nvSpPr>
        <p:spPr>
          <a:xfrm>
            <a:off x="1216152" y="1636776"/>
            <a:ext cx="1673352" cy="347472"/>
          </a:xfrm>
          <a:prstGeom prst="rect">
            <a:avLst/>
          </a:prstGeom>
          <a:noFill/>
        </p:spPr>
        <p:txBody>
          <a:bodyPr wrap="none">
            <a:spAutoFit/>
          </a:bodyPr>
          <a:lstStyle/>
          <a:p>
            <a:pPr>
              <a:defRPr sz="1300" b="1">
                <a:solidFill>
                  <a:srgbClr val="2D2623"/>
                </a:solidFill>
              </a:defRPr>
            </a:pPr>
            <a:r>
              <a:t>Login / Register</a:t>
            </a:r>
          </a:p>
        </p:txBody>
      </p:sp>
      <p:sp>
        <p:nvSpPr>
          <p:cNvPr id="10" name="TextBox 9"/>
          <p:cNvSpPr txBox="1"/>
          <p:nvPr/>
        </p:nvSpPr>
        <p:spPr>
          <a:xfrm>
            <a:off x="1216152" y="2011680"/>
            <a:ext cx="1673352" cy="868680"/>
          </a:xfrm>
          <a:prstGeom prst="rect">
            <a:avLst/>
          </a:prstGeom>
          <a:noFill/>
        </p:spPr>
        <p:txBody>
          <a:bodyPr wrap="none">
            <a:spAutoFit/>
          </a:bodyPr>
          <a:lstStyle/>
          <a:p>
            <a:pPr>
              <a:defRPr sz="1050">
                <a:solidFill>
                  <a:srgbClr val="68605B"/>
                </a:solidFill>
              </a:defRPr>
            </a:pPr>
            <a:r>
              <a:t>Customer enters securely</a:t>
            </a:r>
          </a:p>
        </p:txBody>
      </p:sp>
      <p:sp>
        <p:nvSpPr>
          <p:cNvPr id="11" name="Rounded Rectangle 10"/>
          <p:cNvSpPr/>
          <p:nvPr/>
        </p:nvSpPr>
        <p:spPr>
          <a:xfrm>
            <a:off x="3474720" y="1508760"/>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79" y="164591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79" y="1673351"/>
            <a:ext cx="384048" cy="274320"/>
          </a:xfrm>
          <a:prstGeom prst="rect">
            <a:avLst/>
          </a:prstGeom>
          <a:noFill/>
        </p:spPr>
        <p:txBody>
          <a:bodyPr wrap="none">
            <a:spAutoFit/>
          </a:bodyPr>
          <a:lstStyle/>
          <a:p>
            <a:pPr algn="ctr">
              <a:defRPr sz="1100" b="1">
                <a:solidFill>
                  <a:srgbClr val="FFFFFF"/>
                </a:solidFill>
              </a:defRPr>
            </a:pPr>
            <a:r>
              <a:t>2</a:t>
            </a:r>
          </a:p>
        </p:txBody>
      </p:sp>
      <p:sp>
        <p:nvSpPr>
          <p:cNvPr id="14" name="TextBox 13"/>
          <p:cNvSpPr txBox="1"/>
          <p:nvPr/>
        </p:nvSpPr>
        <p:spPr>
          <a:xfrm>
            <a:off x="4096511" y="1636776"/>
            <a:ext cx="1673352" cy="347472"/>
          </a:xfrm>
          <a:prstGeom prst="rect">
            <a:avLst/>
          </a:prstGeom>
          <a:noFill/>
        </p:spPr>
        <p:txBody>
          <a:bodyPr wrap="none">
            <a:spAutoFit/>
          </a:bodyPr>
          <a:lstStyle/>
          <a:p>
            <a:pPr>
              <a:defRPr sz="1300" b="1">
                <a:solidFill>
                  <a:srgbClr val="2D2623"/>
                </a:solidFill>
              </a:defRPr>
            </a:pPr>
            <a:r>
              <a:t>Discover</a:t>
            </a:r>
          </a:p>
        </p:txBody>
      </p:sp>
      <p:sp>
        <p:nvSpPr>
          <p:cNvPr id="15" name="TextBox 14"/>
          <p:cNvSpPr txBox="1"/>
          <p:nvPr/>
        </p:nvSpPr>
        <p:spPr>
          <a:xfrm>
            <a:off x="4096511" y="2011680"/>
            <a:ext cx="1673352" cy="868680"/>
          </a:xfrm>
          <a:prstGeom prst="rect">
            <a:avLst/>
          </a:prstGeom>
          <a:noFill/>
        </p:spPr>
        <p:txBody>
          <a:bodyPr wrap="none">
            <a:spAutoFit/>
          </a:bodyPr>
          <a:lstStyle/>
          <a:p>
            <a:pPr>
              <a:defRPr sz="1050">
                <a:solidFill>
                  <a:srgbClr val="68605B"/>
                </a:solidFill>
              </a:defRPr>
            </a:pPr>
            <a:r>
              <a:t>Browse restaurants &amp; menus</a:t>
            </a:r>
          </a:p>
        </p:txBody>
      </p:sp>
      <p:sp>
        <p:nvSpPr>
          <p:cNvPr id="16" name="Rounded Rectangle 15"/>
          <p:cNvSpPr/>
          <p:nvPr/>
        </p:nvSpPr>
        <p:spPr>
          <a:xfrm>
            <a:off x="6355080" y="1508760"/>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92240" y="164591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673351"/>
            <a:ext cx="384048" cy="274320"/>
          </a:xfrm>
          <a:prstGeom prst="rect">
            <a:avLst/>
          </a:prstGeom>
          <a:noFill/>
        </p:spPr>
        <p:txBody>
          <a:bodyPr wrap="none">
            <a:spAutoFit/>
          </a:bodyPr>
          <a:lstStyle/>
          <a:p>
            <a:pPr algn="ctr">
              <a:defRPr sz="1100" b="1">
                <a:solidFill>
                  <a:srgbClr val="FFFFFF"/>
                </a:solidFill>
              </a:defRPr>
            </a:pPr>
            <a:r>
              <a:t>3</a:t>
            </a:r>
          </a:p>
        </p:txBody>
      </p:sp>
      <p:sp>
        <p:nvSpPr>
          <p:cNvPr id="19" name="TextBox 18"/>
          <p:cNvSpPr txBox="1"/>
          <p:nvPr/>
        </p:nvSpPr>
        <p:spPr>
          <a:xfrm>
            <a:off x="6976872" y="1636776"/>
            <a:ext cx="1673352" cy="347472"/>
          </a:xfrm>
          <a:prstGeom prst="rect">
            <a:avLst/>
          </a:prstGeom>
          <a:noFill/>
        </p:spPr>
        <p:txBody>
          <a:bodyPr wrap="none">
            <a:spAutoFit/>
          </a:bodyPr>
          <a:lstStyle/>
          <a:p>
            <a:pPr>
              <a:defRPr sz="1300" b="1">
                <a:solidFill>
                  <a:srgbClr val="2D2623"/>
                </a:solidFill>
              </a:defRPr>
            </a:pPr>
            <a:r>
              <a:t>Cart</a:t>
            </a:r>
          </a:p>
        </p:txBody>
      </p:sp>
      <p:sp>
        <p:nvSpPr>
          <p:cNvPr id="20" name="TextBox 19"/>
          <p:cNvSpPr txBox="1"/>
          <p:nvPr/>
        </p:nvSpPr>
        <p:spPr>
          <a:xfrm>
            <a:off x="6976872" y="2011680"/>
            <a:ext cx="1673352" cy="868680"/>
          </a:xfrm>
          <a:prstGeom prst="rect">
            <a:avLst/>
          </a:prstGeom>
          <a:noFill/>
        </p:spPr>
        <p:txBody>
          <a:bodyPr wrap="none">
            <a:spAutoFit/>
          </a:bodyPr>
          <a:lstStyle/>
          <a:p>
            <a:pPr>
              <a:defRPr sz="1050">
                <a:solidFill>
                  <a:srgbClr val="68605B"/>
                </a:solidFill>
              </a:defRPr>
            </a:pPr>
            <a:r>
              <a:t>Select items and quantities</a:t>
            </a:r>
          </a:p>
        </p:txBody>
      </p:sp>
      <p:sp>
        <p:nvSpPr>
          <p:cNvPr id="21" name="Rounded Rectangle 20"/>
          <p:cNvSpPr/>
          <p:nvPr/>
        </p:nvSpPr>
        <p:spPr>
          <a:xfrm>
            <a:off x="9235440" y="1508760"/>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72600" y="164591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1673351"/>
            <a:ext cx="384048" cy="274320"/>
          </a:xfrm>
          <a:prstGeom prst="rect">
            <a:avLst/>
          </a:prstGeom>
          <a:noFill/>
        </p:spPr>
        <p:txBody>
          <a:bodyPr wrap="none">
            <a:spAutoFit/>
          </a:bodyPr>
          <a:lstStyle/>
          <a:p>
            <a:pPr algn="ctr">
              <a:defRPr sz="1100" b="1">
                <a:solidFill>
                  <a:srgbClr val="FFFFFF"/>
                </a:solidFill>
              </a:defRPr>
            </a:pPr>
            <a:r>
              <a:t>4</a:t>
            </a:r>
          </a:p>
        </p:txBody>
      </p:sp>
      <p:sp>
        <p:nvSpPr>
          <p:cNvPr id="24" name="TextBox 23"/>
          <p:cNvSpPr txBox="1"/>
          <p:nvPr/>
        </p:nvSpPr>
        <p:spPr>
          <a:xfrm>
            <a:off x="9857232" y="1636776"/>
            <a:ext cx="1673352" cy="347472"/>
          </a:xfrm>
          <a:prstGeom prst="rect">
            <a:avLst/>
          </a:prstGeom>
          <a:noFill/>
        </p:spPr>
        <p:txBody>
          <a:bodyPr wrap="none">
            <a:spAutoFit/>
          </a:bodyPr>
          <a:lstStyle/>
          <a:p>
            <a:pPr>
              <a:defRPr sz="1300" b="1">
                <a:solidFill>
                  <a:srgbClr val="2D2623"/>
                </a:solidFill>
              </a:defRPr>
            </a:pPr>
            <a:r>
              <a:t>Checkout</a:t>
            </a:r>
          </a:p>
        </p:txBody>
      </p:sp>
      <p:sp>
        <p:nvSpPr>
          <p:cNvPr id="25" name="TextBox 24"/>
          <p:cNvSpPr txBox="1"/>
          <p:nvPr/>
        </p:nvSpPr>
        <p:spPr>
          <a:xfrm>
            <a:off x="9857232" y="2011680"/>
            <a:ext cx="1673352" cy="868680"/>
          </a:xfrm>
          <a:prstGeom prst="rect">
            <a:avLst/>
          </a:prstGeom>
          <a:noFill/>
        </p:spPr>
        <p:txBody>
          <a:bodyPr wrap="none">
            <a:spAutoFit/>
          </a:bodyPr>
          <a:lstStyle/>
          <a:p>
            <a:pPr>
              <a:defRPr sz="1050">
                <a:solidFill>
                  <a:srgbClr val="68605B"/>
                </a:solidFill>
              </a:defRPr>
            </a:pPr>
            <a:r>
              <a:t>Address + payment</a:t>
            </a:r>
          </a:p>
        </p:txBody>
      </p:sp>
      <p:sp>
        <p:nvSpPr>
          <p:cNvPr id="26" name="Rounded Rectangle 25"/>
          <p:cNvSpPr/>
          <p:nvPr/>
        </p:nvSpPr>
        <p:spPr>
          <a:xfrm>
            <a:off x="594360" y="3840479"/>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1520" y="397763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05071"/>
            <a:ext cx="384048" cy="274320"/>
          </a:xfrm>
          <a:prstGeom prst="rect">
            <a:avLst/>
          </a:prstGeom>
          <a:noFill/>
        </p:spPr>
        <p:txBody>
          <a:bodyPr wrap="none">
            <a:spAutoFit/>
          </a:bodyPr>
          <a:lstStyle/>
          <a:p>
            <a:pPr algn="ctr">
              <a:defRPr sz="1100" b="1">
                <a:solidFill>
                  <a:srgbClr val="FFFFFF"/>
                </a:solidFill>
              </a:defRPr>
            </a:pPr>
            <a:r>
              <a:t>5</a:t>
            </a:r>
          </a:p>
        </p:txBody>
      </p:sp>
      <p:sp>
        <p:nvSpPr>
          <p:cNvPr id="29" name="TextBox 28"/>
          <p:cNvSpPr txBox="1"/>
          <p:nvPr/>
        </p:nvSpPr>
        <p:spPr>
          <a:xfrm>
            <a:off x="1216152" y="3968495"/>
            <a:ext cx="1673352" cy="347472"/>
          </a:xfrm>
          <a:prstGeom prst="rect">
            <a:avLst/>
          </a:prstGeom>
          <a:noFill/>
        </p:spPr>
        <p:txBody>
          <a:bodyPr wrap="none">
            <a:spAutoFit/>
          </a:bodyPr>
          <a:lstStyle/>
          <a:p>
            <a:pPr>
              <a:defRPr sz="1300" b="1">
                <a:solidFill>
                  <a:srgbClr val="2D2623"/>
                </a:solidFill>
              </a:defRPr>
            </a:pPr>
            <a:r>
              <a:t>Restaurant</a:t>
            </a:r>
          </a:p>
        </p:txBody>
      </p:sp>
      <p:sp>
        <p:nvSpPr>
          <p:cNvPr id="30" name="TextBox 29"/>
          <p:cNvSpPr txBox="1"/>
          <p:nvPr/>
        </p:nvSpPr>
        <p:spPr>
          <a:xfrm>
            <a:off x="1216152" y="4343399"/>
            <a:ext cx="1673352" cy="868680"/>
          </a:xfrm>
          <a:prstGeom prst="rect">
            <a:avLst/>
          </a:prstGeom>
          <a:noFill/>
        </p:spPr>
        <p:txBody>
          <a:bodyPr wrap="none">
            <a:spAutoFit/>
          </a:bodyPr>
          <a:lstStyle/>
          <a:p>
            <a:pPr>
              <a:defRPr sz="1050">
                <a:solidFill>
                  <a:srgbClr val="68605B"/>
                </a:solidFill>
              </a:defRPr>
            </a:pPr>
            <a:r>
              <a:t>Accept and prepare order</a:t>
            </a:r>
          </a:p>
        </p:txBody>
      </p:sp>
      <p:sp>
        <p:nvSpPr>
          <p:cNvPr id="31" name="Rounded Rectangle 30"/>
          <p:cNvSpPr/>
          <p:nvPr/>
        </p:nvSpPr>
        <p:spPr>
          <a:xfrm>
            <a:off x="3474720" y="3840479"/>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11879" y="397763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11879" y="4005071"/>
            <a:ext cx="384048" cy="274320"/>
          </a:xfrm>
          <a:prstGeom prst="rect">
            <a:avLst/>
          </a:prstGeom>
          <a:noFill/>
        </p:spPr>
        <p:txBody>
          <a:bodyPr wrap="none">
            <a:spAutoFit/>
          </a:bodyPr>
          <a:lstStyle/>
          <a:p>
            <a:pPr algn="ctr">
              <a:defRPr sz="1100" b="1">
                <a:solidFill>
                  <a:srgbClr val="FFFFFF"/>
                </a:solidFill>
              </a:defRPr>
            </a:pPr>
            <a:r>
              <a:t>6</a:t>
            </a:r>
          </a:p>
        </p:txBody>
      </p:sp>
      <p:sp>
        <p:nvSpPr>
          <p:cNvPr id="34" name="TextBox 33"/>
          <p:cNvSpPr txBox="1"/>
          <p:nvPr/>
        </p:nvSpPr>
        <p:spPr>
          <a:xfrm>
            <a:off x="4096511" y="3968495"/>
            <a:ext cx="1673352" cy="347472"/>
          </a:xfrm>
          <a:prstGeom prst="rect">
            <a:avLst/>
          </a:prstGeom>
          <a:noFill/>
        </p:spPr>
        <p:txBody>
          <a:bodyPr wrap="none">
            <a:spAutoFit/>
          </a:bodyPr>
          <a:lstStyle/>
          <a:p>
            <a:pPr>
              <a:defRPr sz="1300" b="1">
                <a:solidFill>
                  <a:srgbClr val="2D2623"/>
                </a:solidFill>
              </a:defRPr>
            </a:pPr>
            <a:r>
              <a:t>Delivery</a:t>
            </a:r>
          </a:p>
        </p:txBody>
      </p:sp>
      <p:sp>
        <p:nvSpPr>
          <p:cNvPr id="35" name="TextBox 34"/>
          <p:cNvSpPr txBox="1"/>
          <p:nvPr/>
        </p:nvSpPr>
        <p:spPr>
          <a:xfrm>
            <a:off x="4096511" y="4343399"/>
            <a:ext cx="1673352" cy="868680"/>
          </a:xfrm>
          <a:prstGeom prst="rect">
            <a:avLst/>
          </a:prstGeom>
          <a:noFill/>
        </p:spPr>
        <p:txBody>
          <a:bodyPr wrap="none">
            <a:spAutoFit/>
          </a:bodyPr>
          <a:lstStyle/>
          <a:p>
            <a:pPr>
              <a:defRPr sz="1050">
                <a:solidFill>
                  <a:srgbClr val="68605B"/>
                </a:solidFill>
              </a:defRPr>
            </a:pPr>
            <a:r>
              <a:t>Assign and update delivery</a:t>
            </a:r>
          </a:p>
        </p:txBody>
      </p:sp>
      <p:sp>
        <p:nvSpPr>
          <p:cNvPr id="36" name="Rounded Rectangle 35"/>
          <p:cNvSpPr/>
          <p:nvPr/>
        </p:nvSpPr>
        <p:spPr>
          <a:xfrm>
            <a:off x="6355080" y="3840479"/>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92240" y="397763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4005071"/>
            <a:ext cx="384048" cy="274320"/>
          </a:xfrm>
          <a:prstGeom prst="rect">
            <a:avLst/>
          </a:prstGeom>
          <a:noFill/>
        </p:spPr>
        <p:txBody>
          <a:bodyPr wrap="none">
            <a:spAutoFit/>
          </a:bodyPr>
          <a:lstStyle/>
          <a:p>
            <a:pPr algn="ctr">
              <a:defRPr sz="1100" b="1">
                <a:solidFill>
                  <a:srgbClr val="FFFFFF"/>
                </a:solidFill>
              </a:defRPr>
            </a:pPr>
            <a:r>
              <a:t>7</a:t>
            </a:r>
          </a:p>
        </p:txBody>
      </p:sp>
      <p:sp>
        <p:nvSpPr>
          <p:cNvPr id="39" name="TextBox 38"/>
          <p:cNvSpPr txBox="1"/>
          <p:nvPr/>
        </p:nvSpPr>
        <p:spPr>
          <a:xfrm>
            <a:off x="6976872" y="3968495"/>
            <a:ext cx="1673352" cy="347472"/>
          </a:xfrm>
          <a:prstGeom prst="rect">
            <a:avLst/>
          </a:prstGeom>
          <a:noFill/>
        </p:spPr>
        <p:txBody>
          <a:bodyPr wrap="none">
            <a:spAutoFit/>
          </a:bodyPr>
          <a:lstStyle/>
          <a:p>
            <a:pPr>
              <a:defRPr sz="1300" b="1">
                <a:solidFill>
                  <a:srgbClr val="2D2623"/>
                </a:solidFill>
              </a:defRPr>
            </a:pPr>
            <a:r>
              <a:t>Tracking</a:t>
            </a:r>
          </a:p>
        </p:txBody>
      </p:sp>
      <p:sp>
        <p:nvSpPr>
          <p:cNvPr id="40" name="TextBox 39"/>
          <p:cNvSpPr txBox="1"/>
          <p:nvPr/>
        </p:nvSpPr>
        <p:spPr>
          <a:xfrm>
            <a:off x="6976872" y="4343399"/>
            <a:ext cx="1673352" cy="868680"/>
          </a:xfrm>
          <a:prstGeom prst="rect">
            <a:avLst/>
          </a:prstGeom>
          <a:noFill/>
        </p:spPr>
        <p:txBody>
          <a:bodyPr wrap="none">
            <a:spAutoFit/>
          </a:bodyPr>
          <a:lstStyle/>
          <a:p>
            <a:pPr>
              <a:defRPr sz="1050">
                <a:solidFill>
                  <a:srgbClr val="68605B"/>
                </a:solidFill>
              </a:defRPr>
            </a:pPr>
            <a:r>
              <a:t>Customer sees progress</a:t>
            </a:r>
          </a:p>
        </p:txBody>
      </p:sp>
      <p:sp>
        <p:nvSpPr>
          <p:cNvPr id="41" name="Rounded Rectangle 40"/>
          <p:cNvSpPr/>
          <p:nvPr/>
        </p:nvSpPr>
        <p:spPr>
          <a:xfrm>
            <a:off x="9235440" y="3840479"/>
            <a:ext cx="2423160" cy="1463040"/>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72600" y="3977639"/>
            <a:ext cx="384048" cy="384048"/>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72600" y="4005071"/>
            <a:ext cx="384048" cy="274320"/>
          </a:xfrm>
          <a:prstGeom prst="rect">
            <a:avLst/>
          </a:prstGeom>
          <a:noFill/>
        </p:spPr>
        <p:txBody>
          <a:bodyPr wrap="none">
            <a:spAutoFit/>
          </a:bodyPr>
          <a:lstStyle/>
          <a:p>
            <a:pPr algn="ctr">
              <a:defRPr sz="1100" b="1">
                <a:solidFill>
                  <a:srgbClr val="FFFFFF"/>
                </a:solidFill>
              </a:defRPr>
            </a:pPr>
            <a:r>
              <a:t>8</a:t>
            </a:r>
          </a:p>
        </p:txBody>
      </p:sp>
      <p:sp>
        <p:nvSpPr>
          <p:cNvPr id="44" name="TextBox 43"/>
          <p:cNvSpPr txBox="1"/>
          <p:nvPr/>
        </p:nvSpPr>
        <p:spPr>
          <a:xfrm>
            <a:off x="9857232" y="3968495"/>
            <a:ext cx="1673352" cy="347472"/>
          </a:xfrm>
          <a:prstGeom prst="rect">
            <a:avLst/>
          </a:prstGeom>
          <a:noFill/>
        </p:spPr>
        <p:txBody>
          <a:bodyPr wrap="none">
            <a:spAutoFit/>
          </a:bodyPr>
          <a:lstStyle/>
          <a:p>
            <a:pPr>
              <a:defRPr sz="1300" b="1">
                <a:solidFill>
                  <a:srgbClr val="2D2623"/>
                </a:solidFill>
              </a:defRPr>
            </a:pPr>
            <a:r>
              <a:t>Complete</a:t>
            </a:r>
          </a:p>
        </p:txBody>
      </p:sp>
      <p:sp>
        <p:nvSpPr>
          <p:cNvPr id="45" name="TextBox 44"/>
          <p:cNvSpPr txBox="1"/>
          <p:nvPr/>
        </p:nvSpPr>
        <p:spPr>
          <a:xfrm>
            <a:off x="9857232" y="4343399"/>
            <a:ext cx="1673352" cy="868680"/>
          </a:xfrm>
          <a:prstGeom prst="rect">
            <a:avLst/>
          </a:prstGeom>
          <a:noFill/>
        </p:spPr>
        <p:txBody>
          <a:bodyPr wrap="none">
            <a:spAutoFit/>
          </a:bodyPr>
          <a:lstStyle/>
          <a:p>
            <a:pPr>
              <a:defRPr sz="1050">
                <a:solidFill>
                  <a:srgbClr val="68605B"/>
                </a:solidFill>
              </a:defRPr>
            </a:pPr>
            <a:r>
              <a:t>Delivered + feedback</a:t>
            </a:r>
          </a:p>
        </p:txBody>
      </p:sp>
      <p:cxnSp>
        <p:nvCxnSpPr>
          <p:cNvPr id="46" name="Connector 45"/>
          <p:cNvCxnSpPr/>
          <p:nvPr/>
        </p:nvCxnSpPr>
        <p:spPr>
          <a:xfrm>
            <a:off x="3017520" y="2240280"/>
            <a:ext cx="411480"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97879" y="2240280"/>
            <a:ext cx="411480"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778240" y="2240280"/>
            <a:ext cx="411479"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017520" y="4572000"/>
            <a:ext cx="411480"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897879" y="4572000"/>
            <a:ext cx="411480"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778240" y="4572000"/>
            <a:ext cx="411479" cy="0"/>
          </a:xfrm>
          <a:prstGeom prst="line">
            <a:avLst/>
          </a:prstGeom>
          <a:ln w="22860">
            <a:solidFill>
              <a:srgbClr val="C23921"/>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10. Database Design &amp; DBMS Relevance</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Core entities for reliable order management</a:t>
            </a:r>
          </a:p>
        </p:txBody>
      </p:sp>
      <p:sp>
        <p:nvSpPr>
          <p:cNvPr id="6" name="Rounded Rectangle 5"/>
          <p:cNvSpPr/>
          <p:nvPr/>
        </p:nvSpPr>
        <p:spPr>
          <a:xfrm>
            <a:off x="502920" y="141732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581912"/>
            <a:ext cx="2130552" cy="411480"/>
          </a:xfrm>
          <a:prstGeom prst="rect">
            <a:avLst/>
          </a:prstGeom>
          <a:noFill/>
        </p:spPr>
        <p:txBody>
          <a:bodyPr wrap="none">
            <a:spAutoFit/>
          </a:bodyPr>
          <a:lstStyle/>
          <a:p>
            <a:pPr>
              <a:defRPr sz="1600" b="1">
                <a:solidFill>
                  <a:srgbClr val="C23921"/>
                </a:solidFill>
                <a:latin typeface="Aptos"/>
              </a:defRPr>
            </a:pPr>
            <a:r>
              <a:t>CUSTOMER</a:t>
            </a:r>
          </a:p>
        </p:txBody>
      </p:sp>
      <p:sp>
        <p:nvSpPr>
          <p:cNvPr id="8" name="TextBox 7"/>
          <p:cNvSpPr txBox="1"/>
          <p:nvPr/>
        </p:nvSpPr>
        <p:spPr>
          <a:xfrm>
            <a:off x="704088" y="2103120"/>
            <a:ext cx="2112264" cy="777240"/>
          </a:xfrm>
          <a:prstGeom prst="rect">
            <a:avLst/>
          </a:prstGeom>
          <a:noFill/>
        </p:spPr>
        <p:txBody>
          <a:bodyPr wrap="square">
            <a:spAutoFit/>
          </a:bodyPr>
          <a:lstStyle/>
          <a:p>
            <a:pPr>
              <a:defRPr sz="1250">
                <a:solidFill>
                  <a:srgbClr val="2D2623"/>
                </a:solidFill>
                <a:latin typeface="Aptos"/>
              </a:defRPr>
            </a:pPr>
            <a:r>
              <a:t>customer_id</a:t>
            </a:r>
            <a:br/>
            <a:r>
              <a:t>name • email • address</a:t>
            </a:r>
          </a:p>
        </p:txBody>
      </p:sp>
      <p:sp>
        <p:nvSpPr>
          <p:cNvPr id="9" name="Rounded Rectangle 8"/>
          <p:cNvSpPr/>
          <p:nvPr/>
        </p:nvSpPr>
        <p:spPr>
          <a:xfrm>
            <a:off x="3383280" y="141732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1581912"/>
            <a:ext cx="2130551" cy="411480"/>
          </a:xfrm>
          <a:prstGeom prst="rect">
            <a:avLst/>
          </a:prstGeom>
          <a:noFill/>
        </p:spPr>
        <p:txBody>
          <a:bodyPr wrap="none">
            <a:spAutoFit/>
          </a:bodyPr>
          <a:lstStyle/>
          <a:p>
            <a:pPr>
              <a:defRPr sz="1600" b="1">
                <a:solidFill>
                  <a:srgbClr val="C23921"/>
                </a:solidFill>
                <a:latin typeface="Aptos"/>
              </a:defRPr>
            </a:pPr>
            <a:r>
              <a:t>RESTAURANT</a:t>
            </a:r>
          </a:p>
        </p:txBody>
      </p:sp>
      <p:sp>
        <p:nvSpPr>
          <p:cNvPr id="11" name="TextBox 10"/>
          <p:cNvSpPr txBox="1"/>
          <p:nvPr/>
        </p:nvSpPr>
        <p:spPr>
          <a:xfrm>
            <a:off x="3584448" y="2103120"/>
            <a:ext cx="2112264" cy="777240"/>
          </a:xfrm>
          <a:prstGeom prst="rect">
            <a:avLst/>
          </a:prstGeom>
          <a:noFill/>
        </p:spPr>
        <p:txBody>
          <a:bodyPr wrap="square">
            <a:spAutoFit/>
          </a:bodyPr>
          <a:lstStyle/>
          <a:p>
            <a:pPr>
              <a:defRPr sz="1250">
                <a:solidFill>
                  <a:srgbClr val="2D2623"/>
                </a:solidFill>
                <a:latin typeface="Aptos"/>
              </a:defRPr>
            </a:pPr>
            <a:r>
              <a:t>restaurant_id</a:t>
            </a:r>
            <a:br/>
            <a:r>
              <a:t>name • location</a:t>
            </a:r>
          </a:p>
        </p:txBody>
      </p:sp>
      <p:sp>
        <p:nvSpPr>
          <p:cNvPr id="12" name="Rounded Rectangle 11"/>
          <p:cNvSpPr/>
          <p:nvPr/>
        </p:nvSpPr>
        <p:spPr>
          <a:xfrm>
            <a:off x="6263640" y="141732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581912"/>
            <a:ext cx="2130552" cy="411480"/>
          </a:xfrm>
          <a:prstGeom prst="rect">
            <a:avLst/>
          </a:prstGeom>
          <a:noFill/>
        </p:spPr>
        <p:txBody>
          <a:bodyPr wrap="none">
            <a:spAutoFit/>
          </a:bodyPr>
          <a:lstStyle/>
          <a:p>
            <a:pPr>
              <a:defRPr sz="1600" b="1">
                <a:solidFill>
                  <a:srgbClr val="C23921"/>
                </a:solidFill>
                <a:latin typeface="Aptos"/>
              </a:defRPr>
            </a:pPr>
            <a:r>
              <a:t>MENU_ITEM</a:t>
            </a:r>
          </a:p>
        </p:txBody>
      </p:sp>
      <p:sp>
        <p:nvSpPr>
          <p:cNvPr id="14" name="TextBox 13"/>
          <p:cNvSpPr txBox="1"/>
          <p:nvPr/>
        </p:nvSpPr>
        <p:spPr>
          <a:xfrm>
            <a:off x="6464807" y="2103120"/>
            <a:ext cx="2112264" cy="777240"/>
          </a:xfrm>
          <a:prstGeom prst="rect">
            <a:avLst/>
          </a:prstGeom>
          <a:noFill/>
        </p:spPr>
        <p:txBody>
          <a:bodyPr wrap="square">
            <a:spAutoFit/>
          </a:bodyPr>
          <a:lstStyle/>
          <a:p>
            <a:pPr>
              <a:defRPr sz="1250">
                <a:solidFill>
                  <a:srgbClr val="2D2623"/>
                </a:solidFill>
                <a:latin typeface="Aptos"/>
              </a:defRPr>
            </a:pPr>
            <a:r>
              <a:t>item_id</a:t>
            </a:r>
            <a:br/>
            <a:r>
              <a:t>name • price • category</a:t>
            </a:r>
          </a:p>
        </p:txBody>
      </p:sp>
      <p:sp>
        <p:nvSpPr>
          <p:cNvPr id="15" name="Rounded Rectangle 14"/>
          <p:cNvSpPr/>
          <p:nvPr/>
        </p:nvSpPr>
        <p:spPr>
          <a:xfrm>
            <a:off x="9144000" y="141732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45168" y="1581912"/>
            <a:ext cx="2130551" cy="411480"/>
          </a:xfrm>
          <a:prstGeom prst="rect">
            <a:avLst/>
          </a:prstGeom>
          <a:noFill/>
        </p:spPr>
        <p:txBody>
          <a:bodyPr wrap="none">
            <a:spAutoFit/>
          </a:bodyPr>
          <a:lstStyle/>
          <a:p>
            <a:pPr>
              <a:defRPr sz="1600" b="1">
                <a:solidFill>
                  <a:srgbClr val="C23921"/>
                </a:solidFill>
                <a:latin typeface="Aptos"/>
              </a:defRPr>
            </a:pPr>
            <a:r>
              <a:t>ORDER</a:t>
            </a:r>
          </a:p>
        </p:txBody>
      </p:sp>
      <p:sp>
        <p:nvSpPr>
          <p:cNvPr id="17" name="TextBox 16"/>
          <p:cNvSpPr txBox="1"/>
          <p:nvPr/>
        </p:nvSpPr>
        <p:spPr>
          <a:xfrm>
            <a:off x="9345168" y="2103120"/>
            <a:ext cx="2112264" cy="777240"/>
          </a:xfrm>
          <a:prstGeom prst="rect">
            <a:avLst/>
          </a:prstGeom>
          <a:noFill/>
        </p:spPr>
        <p:txBody>
          <a:bodyPr wrap="square">
            <a:spAutoFit/>
          </a:bodyPr>
          <a:lstStyle/>
          <a:p>
            <a:pPr>
              <a:defRPr sz="1250">
                <a:solidFill>
                  <a:srgbClr val="2D2623"/>
                </a:solidFill>
                <a:latin typeface="Aptos"/>
              </a:defRPr>
            </a:pPr>
            <a:r>
              <a:t>order_id</a:t>
            </a:r>
            <a:br/>
            <a:r>
              <a:t>customer • total • status</a:t>
            </a:r>
          </a:p>
        </p:txBody>
      </p:sp>
      <p:sp>
        <p:nvSpPr>
          <p:cNvPr id="18" name="Rounded Rectangle 17"/>
          <p:cNvSpPr/>
          <p:nvPr/>
        </p:nvSpPr>
        <p:spPr>
          <a:xfrm>
            <a:off x="502920" y="342900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593592"/>
            <a:ext cx="2130552" cy="411480"/>
          </a:xfrm>
          <a:prstGeom prst="rect">
            <a:avLst/>
          </a:prstGeom>
          <a:noFill/>
        </p:spPr>
        <p:txBody>
          <a:bodyPr wrap="none">
            <a:spAutoFit/>
          </a:bodyPr>
          <a:lstStyle/>
          <a:p>
            <a:pPr>
              <a:defRPr sz="1600" b="1">
                <a:solidFill>
                  <a:srgbClr val="C23921"/>
                </a:solidFill>
                <a:latin typeface="Aptos"/>
              </a:defRPr>
            </a:pPr>
            <a:r>
              <a:t>ORDER_ITEM</a:t>
            </a:r>
          </a:p>
        </p:txBody>
      </p:sp>
      <p:sp>
        <p:nvSpPr>
          <p:cNvPr id="20" name="TextBox 19"/>
          <p:cNvSpPr txBox="1"/>
          <p:nvPr/>
        </p:nvSpPr>
        <p:spPr>
          <a:xfrm>
            <a:off x="704088" y="4114800"/>
            <a:ext cx="2112264" cy="777240"/>
          </a:xfrm>
          <a:prstGeom prst="rect">
            <a:avLst/>
          </a:prstGeom>
          <a:noFill/>
        </p:spPr>
        <p:txBody>
          <a:bodyPr wrap="square">
            <a:spAutoFit/>
          </a:bodyPr>
          <a:lstStyle/>
          <a:p>
            <a:pPr>
              <a:defRPr sz="1250">
                <a:solidFill>
                  <a:srgbClr val="2D2623"/>
                </a:solidFill>
                <a:latin typeface="Aptos"/>
              </a:defRPr>
            </a:pPr>
            <a:r>
              <a:t>order_item_id</a:t>
            </a:r>
            <a:br/>
            <a:r>
              <a:t>order • item • quantity</a:t>
            </a:r>
          </a:p>
        </p:txBody>
      </p:sp>
      <p:sp>
        <p:nvSpPr>
          <p:cNvPr id="21" name="Rounded Rectangle 20"/>
          <p:cNvSpPr/>
          <p:nvPr/>
        </p:nvSpPr>
        <p:spPr>
          <a:xfrm>
            <a:off x="3383280" y="342900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3593592"/>
            <a:ext cx="2130551" cy="411480"/>
          </a:xfrm>
          <a:prstGeom prst="rect">
            <a:avLst/>
          </a:prstGeom>
          <a:noFill/>
        </p:spPr>
        <p:txBody>
          <a:bodyPr wrap="none">
            <a:spAutoFit/>
          </a:bodyPr>
          <a:lstStyle/>
          <a:p>
            <a:pPr>
              <a:defRPr sz="1600" b="1">
                <a:solidFill>
                  <a:srgbClr val="C23921"/>
                </a:solidFill>
                <a:latin typeface="Aptos"/>
              </a:defRPr>
            </a:pPr>
            <a:r>
              <a:t>PAYMENT</a:t>
            </a:r>
          </a:p>
        </p:txBody>
      </p:sp>
      <p:sp>
        <p:nvSpPr>
          <p:cNvPr id="23" name="TextBox 22"/>
          <p:cNvSpPr txBox="1"/>
          <p:nvPr/>
        </p:nvSpPr>
        <p:spPr>
          <a:xfrm>
            <a:off x="3584448" y="4114800"/>
            <a:ext cx="2112264" cy="777240"/>
          </a:xfrm>
          <a:prstGeom prst="rect">
            <a:avLst/>
          </a:prstGeom>
          <a:noFill/>
        </p:spPr>
        <p:txBody>
          <a:bodyPr wrap="square">
            <a:spAutoFit/>
          </a:bodyPr>
          <a:lstStyle/>
          <a:p>
            <a:pPr>
              <a:defRPr sz="1250">
                <a:solidFill>
                  <a:srgbClr val="2D2623"/>
                </a:solidFill>
                <a:latin typeface="Aptos"/>
              </a:defRPr>
            </a:pPr>
            <a:r>
              <a:t>payment_id</a:t>
            </a:r>
            <a:br/>
            <a:r>
              <a:t>order • amount • status</a:t>
            </a:r>
          </a:p>
        </p:txBody>
      </p:sp>
      <p:sp>
        <p:nvSpPr>
          <p:cNvPr id="24" name="Rounded Rectangle 23"/>
          <p:cNvSpPr/>
          <p:nvPr/>
        </p:nvSpPr>
        <p:spPr>
          <a:xfrm>
            <a:off x="6263640" y="342900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7" y="3593592"/>
            <a:ext cx="2130552" cy="411480"/>
          </a:xfrm>
          <a:prstGeom prst="rect">
            <a:avLst/>
          </a:prstGeom>
          <a:noFill/>
        </p:spPr>
        <p:txBody>
          <a:bodyPr wrap="none">
            <a:spAutoFit/>
          </a:bodyPr>
          <a:lstStyle/>
          <a:p>
            <a:pPr>
              <a:defRPr sz="1600" b="1">
                <a:solidFill>
                  <a:srgbClr val="C23921"/>
                </a:solidFill>
                <a:latin typeface="Aptos"/>
              </a:defRPr>
            </a:pPr>
            <a:r>
              <a:t>DELIVERY</a:t>
            </a:r>
          </a:p>
        </p:txBody>
      </p:sp>
      <p:sp>
        <p:nvSpPr>
          <p:cNvPr id="26" name="TextBox 25"/>
          <p:cNvSpPr txBox="1"/>
          <p:nvPr/>
        </p:nvSpPr>
        <p:spPr>
          <a:xfrm>
            <a:off x="6464807" y="4114800"/>
            <a:ext cx="2112264" cy="777240"/>
          </a:xfrm>
          <a:prstGeom prst="rect">
            <a:avLst/>
          </a:prstGeom>
          <a:noFill/>
        </p:spPr>
        <p:txBody>
          <a:bodyPr wrap="square">
            <a:spAutoFit/>
          </a:bodyPr>
          <a:lstStyle/>
          <a:p>
            <a:pPr>
              <a:defRPr sz="1250">
                <a:solidFill>
                  <a:srgbClr val="2D2623"/>
                </a:solidFill>
                <a:latin typeface="Aptos"/>
              </a:defRPr>
            </a:pPr>
            <a:r>
              <a:t>delivery_id</a:t>
            </a:r>
            <a:br/>
            <a:r>
              <a:t>order • partner • status</a:t>
            </a:r>
          </a:p>
        </p:txBody>
      </p:sp>
      <p:sp>
        <p:nvSpPr>
          <p:cNvPr id="27" name="Rounded Rectangle 26"/>
          <p:cNvSpPr/>
          <p:nvPr/>
        </p:nvSpPr>
        <p:spPr>
          <a:xfrm>
            <a:off x="9144000" y="3429000"/>
            <a:ext cx="2514600" cy="160020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45168" y="3593592"/>
            <a:ext cx="2130551" cy="411480"/>
          </a:xfrm>
          <a:prstGeom prst="rect">
            <a:avLst/>
          </a:prstGeom>
          <a:noFill/>
        </p:spPr>
        <p:txBody>
          <a:bodyPr wrap="none">
            <a:spAutoFit/>
          </a:bodyPr>
          <a:lstStyle/>
          <a:p>
            <a:pPr>
              <a:defRPr sz="1600" b="1">
                <a:solidFill>
                  <a:srgbClr val="C23921"/>
                </a:solidFill>
                <a:latin typeface="Aptos"/>
              </a:defRPr>
            </a:pPr>
            <a:r>
              <a:t>GROUP_ORDER</a:t>
            </a:r>
          </a:p>
        </p:txBody>
      </p:sp>
      <p:sp>
        <p:nvSpPr>
          <p:cNvPr id="29" name="TextBox 28"/>
          <p:cNvSpPr txBox="1"/>
          <p:nvPr/>
        </p:nvSpPr>
        <p:spPr>
          <a:xfrm>
            <a:off x="9345168" y="4114800"/>
            <a:ext cx="2112264" cy="777240"/>
          </a:xfrm>
          <a:prstGeom prst="rect">
            <a:avLst/>
          </a:prstGeom>
          <a:noFill/>
        </p:spPr>
        <p:txBody>
          <a:bodyPr wrap="square">
            <a:spAutoFit/>
          </a:bodyPr>
          <a:lstStyle/>
          <a:p>
            <a:pPr>
              <a:defRPr sz="1250">
                <a:solidFill>
                  <a:srgbClr val="2D2623"/>
                </a:solidFill>
                <a:latin typeface="Aptos"/>
              </a:defRPr>
            </a:pPr>
            <a:r>
              <a:t>group_id</a:t>
            </a:r>
            <a:br/>
            <a:r>
              <a:t>members • shared cart • split bill</a:t>
            </a:r>
          </a:p>
        </p:txBody>
      </p:sp>
      <p:sp>
        <p:nvSpPr>
          <p:cNvPr id="30" name="TextBox 29"/>
          <p:cNvSpPr txBox="1"/>
          <p:nvPr/>
        </p:nvSpPr>
        <p:spPr>
          <a:xfrm>
            <a:off x="731520" y="5669280"/>
            <a:ext cx="10698480" cy="502920"/>
          </a:xfrm>
          <a:prstGeom prst="rect">
            <a:avLst/>
          </a:prstGeom>
          <a:noFill/>
        </p:spPr>
        <p:txBody>
          <a:bodyPr wrap="none">
            <a:spAutoFit/>
          </a:bodyPr>
          <a:lstStyle/>
          <a:p>
            <a:pPr>
              <a:defRPr sz="1400" b="1">
                <a:solidFill>
                  <a:srgbClr val="C23921"/>
                </a:solidFill>
              </a:defRPr>
            </a:pPr>
            <a:r>
              <a:t>DBMS focus: structured storage, relationships, constraints, transaction records and efficient retrieval of operational data.</a:t>
            </a:r>
          </a:p>
        </p:txBody>
      </p:sp>
      <p:sp>
        <p:nvSpPr>
          <p:cNvPr id="31" name="TextBox 30"/>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11. Expected Results &amp; Benefits</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What the project delivers</a:t>
            </a:r>
          </a:p>
        </p:txBody>
      </p:sp>
      <p:sp>
        <p:nvSpPr>
          <p:cNvPr id="6" name="Rounded Rectangle 5"/>
          <p:cNvSpPr/>
          <p:nvPr/>
        </p:nvSpPr>
        <p:spPr>
          <a:xfrm>
            <a:off x="685800" y="1325880"/>
            <a:ext cx="10789920" cy="73152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0472"/>
            <a:ext cx="10405872" cy="411480"/>
          </a:xfrm>
          <a:prstGeom prst="rect">
            <a:avLst/>
          </a:prstGeom>
          <a:noFill/>
        </p:spPr>
        <p:txBody>
          <a:bodyPr wrap="none">
            <a:spAutoFit/>
          </a:bodyPr>
          <a:lstStyle/>
          <a:p>
            <a:pPr>
              <a:defRPr sz="1600" b="1">
                <a:solidFill>
                  <a:srgbClr val="C23921"/>
                </a:solidFill>
                <a:latin typeface="Aptos"/>
              </a:defRPr>
            </a:pPr>
            <a:r>
              <a:t>For Customers</a:t>
            </a:r>
          </a:p>
        </p:txBody>
      </p:sp>
      <p:sp>
        <p:nvSpPr>
          <p:cNvPr id="8" name="TextBox 7"/>
          <p:cNvSpPr txBox="1"/>
          <p:nvPr/>
        </p:nvSpPr>
        <p:spPr>
          <a:xfrm>
            <a:off x="886968" y="2011680"/>
            <a:ext cx="10387584" cy="-91439"/>
          </a:xfrm>
          <a:prstGeom prst="rect">
            <a:avLst/>
          </a:prstGeom>
          <a:noFill/>
        </p:spPr>
        <p:txBody>
          <a:bodyPr wrap="square">
            <a:spAutoFit/>
          </a:bodyPr>
          <a:lstStyle/>
          <a:p>
            <a:pPr>
              <a:defRPr sz="1250">
                <a:solidFill>
                  <a:srgbClr val="2D2623"/>
                </a:solidFill>
                <a:latin typeface="Aptos"/>
              </a:defRPr>
            </a:pPr>
            <a:r>
              <a:t>Faster ordering, simple browsing, transparent status and convenient group meals.</a:t>
            </a:r>
          </a:p>
        </p:txBody>
      </p:sp>
      <p:sp>
        <p:nvSpPr>
          <p:cNvPr id="9" name="Rounded Rectangle 8"/>
          <p:cNvSpPr/>
          <p:nvPr/>
        </p:nvSpPr>
        <p:spPr>
          <a:xfrm>
            <a:off x="685800" y="2221991"/>
            <a:ext cx="10789920" cy="73152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386584"/>
            <a:ext cx="10405872" cy="411480"/>
          </a:xfrm>
          <a:prstGeom prst="rect">
            <a:avLst/>
          </a:prstGeom>
          <a:noFill/>
        </p:spPr>
        <p:txBody>
          <a:bodyPr wrap="none">
            <a:spAutoFit/>
          </a:bodyPr>
          <a:lstStyle/>
          <a:p>
            <a:pPr>
              <a:defRPr sz="1600" b="1">
                <a:solidFill>
                  <a:srgbClr val="C23921"/>
                </a:solidFill>
                <a:latin typeface="Aptos"/>
              </a:defRPr>
            </a:pPr>
            <a:r>
              <a:t>For Restaurants</a:t>
            </a:r>
          </a:p>
        </p:txBody>
      </p:sp>
      <p:sp>
        <p:nvSpPr>
          <p:cNvPr id="11" name="TextBox 10"/>
          <p:cNvSpPr txBox="1"/>
          <p:nvPr/>
        </p:nvSpPr>
        <p:spPr>
          <a:xfrm>
            <a:off x="886968" y="2907791"/>
            <a:ext cx="10387584" cy="-91439"/>
          </a:xfrm>
          <a:prstGeom prst="rect">
            <a:avLst/>
          </a:prstGeom>
          <a:noFill/>
        </p:spPr>
        <p:txBody>
          <a:bodyPr wrap="square">
            <a:spAutoFit/>
          </a:bodyPr>
          <a:lstStyle/>
          <a:p>
            <a:pPr>
              <a:defRPr sz="1250">
                <a:solidFill>
                  <a:srgbClr val="2D2623"/>
                </a:solidFill>
                <a:latin typeface="Aptos"/>
              </a:defRPr>
            </a:pPr>
            <a:r>
              <a:t>Digital menu management, centralized order handling and better customer reach.</a:t>
            </a:r>
          </a:p>
        </p:txBody>
      </p:sp>
      <p:sp>
        <p:nvSpPr>
          <p:cNvPr id="12" name="Rounded Rectangle 11"/>
          <p:cNvSpPr/>
          <p:nvPr/>
        </p:nvSpPr>
        <p:spPr>
          <a:xfrm>
            <a:off x="685800" y="3118104"/>
            <a:ext cx="10789920" cy="73152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282696"/>
            <a:ext cx="10405872" cy="411480"/>
          </a:xfrm>
          <a:prstGeom prst="rect">
            <a:avLst/>
          </a:prstGeom>
          <a:noFill/>
        </p:spPr>
        <p:txBody>
          <a:bodyPr wrap="none">
            <a:spAutoFit/>
          </a:bodyPr>
          <a:lstStyle/>
          <a:p>
            <a:pPr>
              <a:defRPr sz="1600" b="1">
                <a:solidFill>
                  <a:srgbClr val="C23921"/>
                </a:solidFill>
                <a:latin typeface="Aptos"/>
              </a:defRPr>
            </a:pPr>
            <a:r>
              <a:t>For Delivery Operations</a:t>
            </a:r>
          </a:p>
        </p:txBody>
      </p:sp>
      <p:sp>
        <p:nvSpPr>
          <p:cNvPr id="14" name="TextBox 13"/>
          <p:cNvSpPr txBox="1"/>
          <p:nvPr/>
        </p:nvSpPr>
        <p:spPr>
          <a:xfrm>
            <a:off x="886968" y="3803904"/>
            <a:ext cx="10387584" cy="-91439"/>
          </a:xfrm>
          <a:prstGeom prst="rect">
            <a:avLst/>
          </a:prstGeom>
          <a:noFill/>
        </p:spPr>
        <p:txBody>
          <a:bodyPr wrap="square">
            <a:spAutoFit/>
          </a:bodyPr>
          <a:lstStyle/>
          <a:p>
            <a:pPr>
              <a:defRPr sz="1250">
                <a:solidFill>
                  <a:srgbClr val="2D2623"/>
                </a:solidFill>
                <a:latin typeface="Aptos"/>
              </a:defRPr>
            </a:pPr>
            <a:r>
              <a:t>Clear order lifecycle and easier coordination of delivery status.</a:t>
            </a:r>
          </a:p>
        </p:txBody>
      </p:sp>
      <p:sp>
        <p:nvSpPr>
          <p:cNvPr id="15" name="Rounded Rectangle 14"/>
          <p:cNvSpPr/>
          <p:nvPr/>
        </p:nvSpPr>
        <p:spPr>
          <a:xfrm>
            <a:off x="685800" y="4014215"/>
            <a:ext cx="10789920" cy="73152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4178807"/>
            <a:ext cx="10405872" cy="411480"/>
          </a:xfrm>
          <a:prstGeom prst="rect">
            <a:avLst/>
          </a:prstGeom>
          <a:noFill/>
        </p:spPr>
        <p:txBody>
          <a:bodyPr wrap="none">
            <a:spAutoFit/>
          </a:bodyPr>
          <a:lstStyle/>
          <a:p>
            <a:pPr>
              <a:defRPr sz="1600" b="1">
                <a:solidFill>
                  <a:srgbClr val="C23921"/>
                </a:solidFill>
                <a:latin typeface="Aptos"/>
              </a:defRPr>
            </a:pPr>
            <a:r>
              <a:t>For Administrators</a:t>
            </a:r>
          </a:p>
        </p:txBody>
      </p:sp>
      <p:sp>
        <p:nvSpPr>
          <p:cNvPr id="17" name="TextBox 16"/>
          <p:cNvSpPr txBox="1"/>
          <p:nvPr/>
        </p:nvSpPr>
        <p:spPr>
          <a:xfrm>
            <a:off x="886968" y="4700016"/>
            <a:ext cx="10387584" cy="-91439"/>
          </a:xfrm>
          <a:prstGeom prst="rect">
            <a:avLst/>
          </a:prstGeom>
          <a:noFill/>
        </p:spPr>
        <p:txBody>
          <a:bodyPr wrap="square">
            <a:spAutoFit/>
          </a:bodyPr>
          <a:lstStyle/>
          <a:p>
            <a:pPr>
              <a:defRPr sz="1250">
                <a:solidFill>
                  <a:srgbClr val="2D2623"/>
                </a:solidFill>
                <a:latin typeface="Aptos"/>
              </a:defRPr>
            </a:pPr>
            <a:r>
              <a:t>Centralized visibility into users, restaurants and order activity.</a:t>
            </a:r>
          </a:p>
        </p:txBody>
      </p:sp>
      <p:sp>
        <p:nvSpPr>
          <p:cNvPr id="18" name="Rounded Rectangle 17"/>
          <p:cNvSpPr/>
          <p:nvPr/>
        </p:nvSpPr>
        <p:spPr>
          <a:xfrm>
            <a:off x="685800" y="4910328"/>
            <a:ext cx="10789920" cy="731520"/>
          </a:xfrm>
          <a:prstGeom prst="roundRect">
            <a:avLst/>
          </a:prstGeom>
          <a:solidFill>
            <a:srgbClr val="FFFFFF"/>
          </a:solidFill>
          <a:ln w="12700">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5074920"/>
            <a:ext cx="10405872" cy="411480"/>
          </a:xfrm>
          <a:prstGeom prst="rect">
            <a:avLst/>
          </a:prstGeom>
          <a:noFill/>
        </p:spPr>
        <p:txBody>
          <a:bodyPr wrap="none">
            <a:spAutoFit/>
          </a:bodyPr>
          <a:lstStyle/>
          <a:p>
            <a:pPr>
              <a:defRPr sz="1600" b="1">
                <a:solidFill>
                  <a:srgbClr val="C23921"/>
                </a:solidFill>
                <a:latin typeface="Aptos"/>
              </a:defRPr>
            </a:pPr>
            <a:r>
              <a:t>For Society</a:t>
            </a:r>
          </a:p>
        </p:txBody>
      </p:sp>
      <p:sp>
        <p:nvSpPr>
          <p:cNvPr id="20" name="TextBox 19"/>
          <p:cNvSpPr txBox="1"/>
          <p:nvPr/>
        </p:nvSpPr>
        <p:spPr>
          <a:xfrm>
            <a:off x="886968" y="5596128"/>
            <a:ext cx="10387584" cy="-91439"/>
          </a:xfrm>
          <a:prstGeom prst="rect">
            <a:avLst/>
          </a:prstGeom>
          <a:noFill/>
        </p:spPr>
        <p:txBody>
          <a:bodyPr wrap="square">
            <a:spAutoFit/>
          </a:bodyPr>
          <a:lstStyle/>
          <a:p>
            <a:pPr>
              <a:defRPr sz="1250">
                <a:solidFill>
                  <a:srgbClr val="2D2623"/>
                </a:solidFill>
                <a:latin typeface="Aptos"/>
              </a:defRPr>
            </a:pPr>
            <a:r>
              <a:t>Supports digital commerce, convenience and technology-enabled access to local food services.</a:t>
            </a:r>
          </a:p>
        </p:txBody>
      </p:sp>
      <p:sp>
        <p:nvSpPr>
          <p:cNvPr id="21" name="Rounded Rectangle 20"/>
          <p:cNvSpPr/>
          <p:nvPr/>
        </p:nvSpPr>
        <p:spPr>
          <a:xfrm>
            <a:off x="2834640" y="5897880"/>
            <a:ext cx="6492240" cy="502920"/>
          </a:xfrm>
          <a:prstGeom prst="roundRect">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5980176"/>
            <a:ext cx="6217920" cy="274320"/>
          </a:xfrm>
          <a:prstGeom prst="rect">
            <a:avLst/>
          </a:prstGeom>
          <a:noFill/>
        </p:spPr>
        <p:txBody>
          <a:bodyPr wrap="none">
            <a:spAutoFit/>
          </a:bodyPr>
          <a:lstStyle/>
          <a:p>
            <a:pPr algn="ctr">
              <a:defRPr sz="1300" b="1">
                <a:solidFill>
                  <a:srgbClr val="C23921"/>
                </a:solidFill>
              </a:defRPr>
            </a:pPr>
            <a:r>
              <a:t>Outcome: a connected, practical and scalable food-delivery prototype.</a:t>
            </a:r>
          </a:p>
        </p:txBody>
      </p:sp>
      <p:sp>
        <p:nvSpPr>
          <p:cNvPr id="23" name="TextBox 22"/>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12. Future Scope</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How FoodFlow can evolve beyond the academic prototype</a:t>
            </a:r>
          </a:p>
        </p:txBody>
      </p:sp>
      <p:sp>
        <p:nvSpPr>
          <p:cNvPr id="6" name="TextBox 5"/>
          <p:cNvSpPr txBox="1"/>
          <p:nvPr/>
        </p:nvSpPr>
        <p:spPr>
          <a:xfrm>
            <a:off x="822960" y="1371600"/>
            <a:ext cx="6400800" cy="4754880"/>
          </a:xfrm>
          <a:prstGeom prst="rect">
            <a:avLst/>
          </a:prstGeom>
          <a:noFill/>
        </p:spPr>
        <p:txBody>
          <a:bodyPr wrap="square" lIns="18288" rIns="18288" tIns="18288" bIns="18288">
            <a:spAutoFit/>
          </a:bodyPr>
          <a:lstStyle/>
          <a:p>
            <a:pPr>
              <a:spcAft>
                <a:spcPts val="800"/>
              </a:spcAft>
              <a:defRPr sz="1600">
                <a:solidFill>
                  <a:srgbClr val="2D2623"/>
                </a:solidFill>
                <a:latin typeface="Aptos"/>
              </a:defRPr>
            </a:pPr>
            <a:r>
              <a:t>AI-based restaurant and food recommendations</a:t>
            </a:r>
          </a:p>
          <a:p>
            <a:pPr>
              <a:spcAft>
                <a:spcPts val="800"/>
              </a:spcAft>
              <a:defRPr sz="1600">
                <a:solidFill>
                  <a:srgbClr val="2D2623"/>
                </a:solidFill>
                <a:latin typeface="Aptos"/>
              </a:defRPr>
            </a:pPr>
            <a:r>
              <a:t>Advanced delivery-route optimization and ETA prediction</a:t>
            </a:r>
          </a:p>
          <a:p>
            <a:pPr>
              <a:spcAft>
                <a:spcPts val="800"/>
              </a:spcAft>
              <a:defRPr sz="1600">
                <a:solidFill>
                  <a:srgbClr val="2D2623"/>
                </a:solidFill>
                <a:latin typeface="Aptos"/>
              </a:defRPr>
            </a:pPr>
            <a:r>
              <a:t>GPS-based live delivery tracking with map integration</a:t>
            </a:r>
          </a:p>
          <a:p>
            <a:pPr>
              <a:spcAft>
                <a:spcPts val="800"/>
              </a:spcAft>
              <a:defRPr sz="1600">
                <a:solidFill>
                  <a:srgbClr val="2D2623"/>
                </a:solidFill>
                <a:latin typeface="Aptos"/>
              </a:defRPr>
            </a:pPr>
            <a:r>
              <a:t>Multilingual and accessibility-focused interfaces</a:t>
            </a:r>
          </a:p>
          <a:p>
            <a:pPr>
              <a:spcAft>
                <a:spcPts val="800"/>
              </a:spcAft>
              <a:defRPr sz="1600">
                <a:solidFill>
                  <a:srgbClr val="2D2623"/>
                </a:solidFill>
                <a:latin typeface="Aptos"/>
              </a:defRPr>
            </a:pPr>
            <a:r>
              <a:t>Loyalty points, offers and subscription plans</a:t>
            </a:r>
          </a:p>
          <a:p>
            <a:pPr>
              <a:spcAft>
                <a:spcPts val="800"/>
              </a:spcAft>
              <a:defRPr sz="1600">
                <a:solidFill>
                  <a:srgbClr val="2D2623"/>
                </a:solidFill>
                <a:latin typeface="Aptos"/>
              </a:defRPr>
            </a:pPr>
            <a:r>
              <a:t>Analytics dashboard for restaurant sales and customer trends</a:t>
            </a:r>
          </a:p>
          <a:p>
            <a:pPr>
              <a:spcAft>
                <a:spcPts val="800"/>
              </a:spcAft>
              <a:defRPr sz="1600">
                <a:solidFill>
                  <a:srgbClr val="2D2623"/>
                </a:solidFill>
                <a:latin typeface="Aptos"/>
              </a:defRPr>
            </a:pPr>
            <a:r>
              <a:t>Cloud deployment and scalable microservice architecture</a:t>
            </a:r>
          </a:p>
          <a:p>
            <a:pPr>
              <a:spcAft>
                <a:spcPts val="800"/>
              </a:spcAft>
              <a:defRPr sz="1600">
                <a:solidFill>
                  <a:srgbClr val="2D2623"/>
                </a:solidFill>
                <a:latin typeface="Aptos"/>
              </a:defRPr>
            </a:pPr>
            <a:r>
              <a:t>Mobile application for customers, restaurants and delivery partners</a:t>
            </a:r>
          </a:p>
        </p:txBody>
      </p:sp>
      <p:sp>
        <p:nvSpPr>
          <p:cNvPr id="7" name="Rounded Rectangle 6"/>
          <p:cNvSpPr/>
          <p:nvPr/>
        </p:nvSpPr>
        <p:spPr>
          <a:xfrm>
            <a:off x="7726679" y="1417320"/>
            <a:ext cx="2148840" cy="347472"/>
          </a:xfrm>
          <a:prstGeom prst="roundRect">
            <a:avLst/>
          </a:prstGeom>
          <a:solidFill>
            <a:srgbClr val="FF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426464"/>
            <a:ext cx="2148840" cy="292608"/>
          </a:xfrm>
          <a:prstGeom prst="rect">
            <a:avLst/>
          </a:prstGeom>
          <a:noFill/>
        </p:spPr>
        <p:txBody>
          <a:bodyPr wrap="none">
            <a:spAutoFit/>
          </a:bodyPr>
          <a:lstStyle/>
          <a:p>
            <a:pPr algn="ctr">
              <a:defRPr sz="1000" b="1">
                <a:solidFill>
                  <a:srgbClr val="C23921"/>
                </a:solidFill>
                <a:latin typeface="Aptos"/>
              </a:defRPr>
            </a:pPr>
            <a:r>
              <a:t>NEXT-GEN PLATFORM</a:t>
            </a:r>
          </a:p>
        </p:txBody>
      </p:sp>
      <p:sp>
        <p:nvSpPr>
          <p:cNvPr id="9" name="Oval 8"/>
          <p:cNvSpPr/>
          <p:nvPr/>
        </p:nvSpPr>
        <p:spPr>
          <a:xfrm>
            <a:off x="7818120" y="1965960"/>
            <a:ext cx="530352" cy="530352"/>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1947672"/>
            <a:ext cx="2286000" cy="548640"/>
          </a:xfrm>
          <a:prstGeom prst="rect">
            <a:avLst/>
          </a:prstGeom>
          <a:noFill/>
        </p:spPr>
        <p:txBody>
          <a:bodyPr wrap="none">
            <a:spAutoFit/>
          </a:bodyPr>
          <a:lstStyle/>
          <a:p>
            <a:pPr>
              <a:defRPr sz="1300" b="1">
                <a:solidFill>
                  <a:srgbClr val="2D2623"/>
                </a:solidFill>
              </a:defRPr>
            </a:pPr>
            <a:r>
              <a:t>NOW</a:t>
            </a:r>
          </a:p>
          <a:p>
            <a:pPr>
              <a:defRPr sz="1050">
                <a:solidFill>
                  <a:srgbClr val="68605B"/>
                </a:solidFill>
              </a:defRPr>
            </a:pPr>
            <a:r>
              <a:t>Core ordering</a:t>
            </a:r>
          </a:p>
        </p:txBody>
      </p:sp>
      <p:sp>
        <p:nvSpPr>
          <p:cNvPr id="11" name="Oval 10"/>
          <p:cNvSpPr/>
          <p:nvPr/>
        </p:nvSpPr>
        <p:spPr>
          <a:xfrm>
            <a:off x="7818120" y="2926080"/>
            <a:ext cx="530352" cy="530352"/>
          </a:xfrm>
          <a:prstGeom prst="ellipse">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2907792"/>
            <a:ext cx="2286000" cy="548640"/>
          </a:xfrm>
          <a:prstGeom prst="rect">
            <a:avLst/>
          </a:prstGeom>
          <a:noFill/>
        </p:spPr>
        <p:txBody>
          <a:bodyPr wrap="none">
            <a:spAutoFit/>
          </a:bodyPr>
          <a:lstStyle/>
          <a:p>
            <a:pPr>
              <a:defRPr sz="1300" b="1">
                <a:solidFill>
                  <a:srgbClr val="2D2623"/>
                </a:solidFill>
              </a:defRPr>
            </a:pPr>
            <a:r>
              <a:t>NEXT</a:t>
            </a:r>
          </a:p>
          <a:p>
            <a:pPr>
              <a:defRPr sz="1050">
                <a:solidFill>
                  <a:srgbClr val="68605B"/>
                </a:solidFill>
              </a:defRPr>
            </a:pPr>
            <a:r>
              <a:t>Tracking + analytics</a:t>
            </a:r>
          </a:p>
        </p:txBody>
      </p:sp>
      <p:sp>
        <p:nvSpPr>
          <p:cNvPr id="13" name="Oval 12"/>
          <p:cNvSpPr/>
          <p:nvPr/>
        </p:nvSpPr>
        <p:spPr>
          <a:xfrm>
            <a:off x="7818120" y="3886200"/>
            <a:ext cx="530352" cy="530352"/>
          </a:xfrm>
          <a:prstGeom prst="ellipse">
            <a:avLst/>
          </a:prstGeom>
          <a:solidFill>
            <a:srgbClr val="EF7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3867912"/>
            <a:ext cx="2286000" cy="548640"/>
          </a:xfrm>
          <a:prstGeom prst="rect">
            <a:avLst/>
          </a:prstGeom>
          <a:noFill/>
        </p:spPr>
        <p:txBody>
          <a:bodyPr wrap="none">
            <a:spAutoFit/>
          </a:bodyPr>
          <a:lstStyle/>
          <a:p>
            <a:pPr>
              <a:defRPr sz="1300" b="1">
                <a:solidFill>
                  <a:srgbClr val="2D2623"/>
                </a:solidFill>
              </a:defRPr>
            </a:pPr>
            <a:r>
              <a:t>LATER</a:t>
            </a:r>
          </a:p>
          <a:p>
            <a:pPr>
              <a:defRPr sz="1050">
                <a:solidFill>
                  <a:srgbClr val="68605B"/>
                </a:solidFill>
              </a:defRPr>
            </a:pPr>
            <a:r>
              <a:t>AI + optimization</a:t>
            </a:r>
          </a:p>
        </p:txBody>
      </p:sp>
      <p:sp>
        <p:nvSpPr>
          <p:cNvPr id="15" name="Oval 14"/>
          <p:cNvSpPr/>
          <p:nvPr/>
        </p:nvSpPr>
        <p:spPr>
          <a:xfrm>
            <a:off x="7818120" y="4846320"/>
            <a:ext cx="530352" cy="530352"/>
          </a:xfrm>
          <a:prstGeom prst="ellipse">
            <a:avLst/>
          </a:prstGeom>
          <a:solidFill>
            <a:srgbClr val="EF7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4828032"/>
            <a:ext cx="2286000" cy="548640"/>
          </a:xfrm>
          <a:prstGeom prst="rect">
            <a:avLst/>
          </a:prstGeom>
          <a:noFill/>
        </p:spPr>
        <p:txBody>
          <a:bodyPr wrap="none">
            <a:spAutoFit/>
          </a:bodyPr>
          <a:lstStyle/>
          <a:p>
            <a:pPr>
              <a:defRPr sz="1300" b="1">
                <a:solidFill>
                  <a:srgbClr val="2D2623"/>
                </a:solidFill>
              </a:defRPr>
            </a:pPr>
            <a:r>
              <a:t>SCALE</a:t>
            </a:r>
          </a:p>
          <a:p>
            <a:pPr>
              <a:defRPr sz="1050">
                <a:solidFill>
                  <a:srgbClr val="68605B"/>
                </a:solidFill>
              </a:defRPr>
            </a:pPr>
            <a:r>
              <a:t>Cloud + mobile</a:t>
            </a:r>
          </a:p>
        </p:txBody>
      </p:sp>
      <p:sp>
        <p:nvSpPr>
          <p:cNvPr id="17" name="TextBox 16"/>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39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48640"/>
          </a:xfrm>
          <a:prstGeom prst="rect">
            <a:avLst/>
          </a:prstGeom>
          <a:noFill/>
        </p:spPr>
        <p:txBody>
          <a:bodyPr wrap="none">
            <a:spAutoFit/>
          </a:bodyPr>
          <a:lstStyle/>
          <a:p>
            <a:pPr>
              <a:defRPr sz="2800" b="1">
                <a:solidFill>
                  <a:srgbClr val="2D2623"/>
                </a:solidFill>
                <a:latin typeface="Aptos Display"/>
              </a:defRPr>
            </a:pPr>
            <a:r>
              <a:t>13. Rubric Alignment — Targeting 50/50</a:t>
            </a:r>
          </a:p>
        </p:txBody>
      </p:sp>
      <p:sp>
        <p:nvSpPr>
          <p:cNvPr id="5" name="TextBox 4"/>
          <p:cNvSpPr txBox="1"/>
          <p:nvPr/>
        </p:nvSpPr>
        <p:spPr>
          <a:xfrm>
            <a:off x="612648" y="932688"/>
            <a:ext cx="10789920" cy="320040"/>
          </a:xfrm>
          <a:prstGeom prst="rect">
            <a:avLst/>
          </a:prstGeom>
          <a:noFill/>
        </p:spPr>
        <p:txBody>
          <a:bodyPr wrap="none">
            <a:spAutoFit/>
          </a:bodyPr>
          <a:lstStyle/>
          <a:p>
            <a:pPr>
              <a:defRPr sz="1250">
                <a:solidFill>
                  <a:srgbClr val="68605B"/>
                </a:solidFill>
                <a:latin typeface="Aptos"/>
              </a:defRPr>
            </a:pPr>
            <a:r>
              <a:t>Directly addressing the five evaluation dimensions shown in the provided rubric</a:t>
            </a:r>
          </a:p>
        </p:txBody>
      </p:sp>
      <p:sp>
        <p:nvSpPr>
          <p:cNvPr id="6" name="Rounded Rectangle 5"/>
          <p:cNvSpPr/>
          <p:nvPr/>
        </p:nvSpPr>
        <p:spPr>
          <a:xfrm>
            <a:off x="640080" y="1353312"/>
            <a:ext cx="10927080" cy="786384"/>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2240280" cy="530352"/>
          </a:xfrm>
          <a:prstGeom prst="rect">
            <a:avLst/>
          </a:prstGeom>
          <a:noFill/>
        </p:spPr>
        <p:txBody>
          <a:bodyPr wrap="none">
            <a:spAutoFit/>
          </a:bodyPr>
          <a:lstStyle/>
          <a:p>
            <a:pPr>
              <a:defRPr sz="1150" b="1">
                <a:solidFill>
                  <a:srgbClr val="C23921"/>
                </a:solidFill>
              </a:defRPr>
            </a:pPr>
            <a:r>
              <a:t>Clarity of Project Title</a:t>
            </a:r>
          </a:p>
        </p:txBody>
      </p:sp>
      <p:sp>
        <p:nvSpPr>
          <p:cNvPr id="8" name="TextBox 7"/>
          <p:cNvSpPr txBox="1"/>
          <p:nvPr/>
        </p:nvSpPr>
        <p:spPr>
          <a:xfrm>
            <a:off x="3154680" y="1463040"/>
            <a:ext cx="3246120" cy="530352"/>
          </a:xfrm>
          <a:prstGeom prst="rect">
            <a:avLst/>
          </a:prstGeom>
          <a:noFill/>
        </p:spPr>
        <p:txBody>
          <a:bodyPr wrap="none">
            <a:spAutoFit/>
          </a:bodyPr>
          <a:lstStyle/>
          <a:p>
            <a:pPr>
              <a:defRPr sz="1150" b="1">
                <a:solidFill>
                  <a:srgbClr val="2D2623"/>
                </a:solidFill>
              </a:defRPr>
            </a:pPr>
            <a:r>
              <a:t>FoodFlow – Online Food Delivery Platform</a:t>
            </a:r>
          </a:p>
        </p:txBody>
      </p:sp>
      <p:sp>
        <p:nvSpPr>
          <p:cNvPr id="9" name="TextBox 8"/>
          <p:cNvSpPr txBox="1"/>
          <p:nvPr/>
        </p:nvSpPr>
        <p:spPr>
          <a:xfrm>
            <a:off x="6492240" y="1444752"/>
            <a:ext cx="4800600" cy="566928"/>
          </a:xfrm>
          <a:prstGeom prst="rect">
            <a:avLst/>
          </a:prstGeom>
          <a:noFill/>
        </p:spPr>
        <p:txBody>
          <a:bodyPr wrap="none">
            <a:spAutoFit/>
          </a:bodyPr>
          <a:lstStyle/>
          <a:p>
            <a:pPr>
              <a:defRPr sz="1050">
                <a:solidFill>
                  <a:srgbClr val="68605B"/>
                </a:solidFill>
              </a:defRPr>
            </a:pPr>
            <a:r>
              <a:t>Specific, understandable and directly describes the system.</a:t>
            </a:r>
          </a:p>
        </p:txBody>
      </p:sp>
      <p:sp>
        <p:nvSpPr>
          <p:cNvPr id="10" name="Rounded Rectangle 9"/>
          <p:cNvSpPr/>
          <p:nvPr/>
        </p:nvSpPr>
        <p:spPr>
          <a:xfrm>
            <a:off x="640080" y="2286000"/>
            <a:ext cx="10927080" cy="786384"/>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95728"/>
            <a:ext cx="2240280" cy="530352"/>
          </a:xfrm>
          <a:prstGeom prst="rect">
            <a:avLst/>
          </a:prstGeom>
          <a:noFill/>
        </p:spPr>
        <p:txBody>
          <a:bodyPr wrap="none">
            <a:spAutoFit/>
          </a:bodyPr>
          <a:lstStyle/>
          <a:p>
            <a:pPr>
              <a:defRPr sz="1150" b="1">
                <a:solidFill>
                  <a:srgbClr val="C23921"/>
                </a:solidFill>
              </a:defRPr>
            </a:pPr>
            <a:r>
              <a:t>Project Feasibility Analysis</a:t>
            </a:r>
          </a:p>
        </p:txBody>
      </p:sp>
      <p:sp>
        <p:nvSpPr>
          <p:cNvPr id="12" name="TextBox 11"/>
          <p:cNvSpPr txBox="1"/>
          <p:nvPr/>
        </p:nvSpPr>
        <p:spPr>
          <a:xfrm>
            <a:off x="3154680" y="2395728"/>
            <a:ext cx="3246120" cy="530352"/>
          </a:xfrm>
          <a:prstGeom prst="rect">
            <a:avLst/>
          </a:prstGeom>
          <a:noFill/>
        </p:spPr>
        <p:txBody>
          <a:bodyPr wrap="none">
            <a:spAutoFit/>
          </a:bodyPr>
          <a:lstStyle/>
          <a:p>
            <a:pPr>
              <a:defRPr sz="1150" b="1">
                <a:solidFill>
                  <a:srgbClr val="2D2623"/>
                </a:solidFill>
              </a:defRPr>
            </a:pPr>
            <a:r>
              <a:t>Technical + Economic + Operational + Schedule</a:t>
            </a:r>
          </a:p>
        </p:txBody>
      </p:sp>
      <p:sp>
        <p:nvSpPr>
          <p:cNvPr id="13" name="TextBox 12"/>
          <p:cNvSpPr txBox="1"/>
          <p:nvPr/>
        </p:nvSpPr>
        <p:spPr>
          <a:xfrm>
            <a:off x="6492240" y="2377440"/>
            <a:ext cx="4800600" cy="566928"/>
          </a:xfrm>
          <a:prstGeom prst="rect">
            <a:avLst/>
          </a:prstGeom>
          <a:noFill/>
        </p:spPr>
        <p:txBody>
          <a:bodyPr wrap="none">
            <a:spAutoFit/>
          </a:bodyPr>
          <a:lstStyle/>
          <a:p>
            <a:pPr>
              <a:defRPr sz="1050">
                <a:solidFill>
                  <a:srgbClr val="68605B"/>
                </a:solidFill>
              </a:defRPr>
            </a:pPr>
            <a:r>
              <a:t>Shows that the project is achievable with available tools and resources.</a:t>
            </a:r>
          </a:p>
        </p:txBody>
      </p:sp>
      <p:sp>
        <p:nvSpPr>
          <p:cNvPr id="14" name="Rounded Rectangle 13"/>
          <p:cNvSpPr/>
          <p:nvPr/>
        </p:nvSpPr>
        <p:spPr>
          <a:xfrm>
            <a:off x="640080" y="3218688"/>
            <a:ext cx="10927080" cy="786384"/>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28416"/>
            <a:ext cx="2240280" cy="530352"/>
          </a:xfrm>
          <a:prstGeom prst="rect">
            <a:avLst/>
          </a:prstGeom>
          <a:noFill/>
        </p:spPr>
        <p:txBody>
          <a:bodyPr wrap="none">
            <a:spAutoFit/>
          </a:bodyPr>
          <a:lstStyle/>
          <a:p>
            <a:pPr>
              <a:defRPr sz="1150" b="1">
                <a:solidFill>
                  <a:srgbClr val="C23921"/>
                </a:solidFill>
              </a:defRPr>
            </a:pPr>
            <a:r>
              <a:t>Oriented with Societal Needs</a:t>
            </a:r>
          </a:p>
        </p:txBody>
      </p:sp>
      <p:sp>
        <p:nvSpPr>
          <p:cNvPr id="16" name="TextBox 15"/>
          <p:cNvSpPr txBox="1"/>
          <p:nvPr/>
        </p:nvSpPr>
        <p:spPr>
          <a:xfrm>
            <a:off x="3154680" y="3328416"/>
            <a:ext cx="3246120" cy="530352"/>
          </a:xfrm>
          <a:prstGeom prst="rect">
            <a:avLst/>
          </a:prstGeom>
          <a:noFill/>
        </p:spPr>
        <p:txBody>
          <a:bodyPr wrap="none">
            <a:spAutoFit/>
          </a:bodyPr>
          <a:lstStyle/>
          <a:p>
            <a:pPr>
              <a:defRPr sz="1150" b="1">
                <a:solidFill>
                  <a:srgbClr val="2D2623"/>
                </a:solidFill>
              </a:defRPr>
            </a:pPr>
            <a:r>
              <a:t>Convenience + local business support + group ordering</a:t>
            </a:r>
          </a:p>
        </p:txBody>
      </p:sp>
      <p:sp>
        <p:nvSpPr>
          <p:cNvPr id="17" name="TextBox 16"/>
          <p:cNvSpPr txBox="1"/>
          <p:nvPr/>
        </p:nvSpPr>
        <p:spPr>
          <a:xfrm>
            <a:off x="6492240" y="3310128"/>
            <a:ext cx="4800600" cy="566928"/>
          </a:xfrm>
          <a:prstGeom prst="rect">
            <a:avLst/>
          </a:prstGeom>
          <a:noFill/>
        </p:spPr>
        <p:txBody>
          <a:bodyPr wrap="none">
            <a:spAutoFit/>
          </a:bodyPr>
          <a:lstStyle/>
          <a:p>
            <a:pPr>
              <a:defRPr sz="1050">
                <a:solidFill>
                  <a:srgbClr val="68605B"/>
                </a:solidFill>
              </a:defRPr>
            </a:pPr>
            <a:r>
              <a:t>Addresses real-world digital ordering and collaboration needs.</a:t>
            </a:r>
          </a:p>
        </p:txBody>
      </p:sp>
      <p:sp>
        <p:nvSpPr>
          <p:cNvPr id="18" name="Rounded Rectangle 17"/>
          <p:cNvSpPr/>
          <p:nvPr/>
        </p:nvSpPr>
        <p:spPr>
          <a:xfrm>
            <a:off x="640080" y="4151376"/>
            <a:ext cx="10927080" cy="786384"/>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61104"/>
            <a:ext cx="2240280" cy="530352"/>
          </a:xfrm>
          <a:prstGeom prst="rect">
            <a:avLst/>
          </a:prstGeom>
          <a:noFill/>
        </p:spPr>
        <p:txBody>
          <a:bodyPr wrap="none">
            <a:spAutoFit/>
          </a:bodyPr>
          <a:lstStyle/>
          <a:p>
            <a:pPr>
              <a:defRPr sz="1150" b="1">
                <a:solidFill>
                  <a:srgbClr val="C23921"/>
                </a:solidFill>
              </a:defRPr>
            </a:pPr>
            <a:r>
              <a:t>Novelty of the Project Title</a:t>
            </a:r>
          </a:p>
        </p:txBody>
      </p:sp>
      <p:sp>
        <p:nvSpPr>
          <p:cNvPr id="20" name="TextBox 19"/>
          <p:cNvSpPr txBox="1"/>
          <p:nvPr/>
        </p:nvSpPr>
        <p:spPr>
          <a:xfrm>
            <a:off x="3154680" y="4261104"/>
            <a:ext cx="3246120" cy="530352"/>
          </a:xfrm>
          <a:prstGeom prst="rect">
            <a:avLst/>
          </a:prstGeom>
          <a:noFill/>
        </p:spPr>
        <p:txBody>
          <a:bodyPr wrap="none">
            <a:spAutoFit/>
          </a:bodyPr>
          <a:lstStyle/>
          <a:p>
            <a:pPr>
              <a:defRPr sz="1150" b="1">
                <a:solidFill>
                  <a:srgbClr val="2D2623"/>
                </a:solidFill>
              </a:defRPr>
            </a:pPr>
            <a:r>
              <a:t>Group Ordering + Split Bill</a:t>
            </a:r>
          </a:p>
        </p:txBody>
      </p:sp>
      <p:sp>
        <p:nvSpPr>
          <p:cNvPr id="21" name="TextBox 20"/>
          <p:cNvSpPr txBox="1"/>
          <p:nvPr/>
        </p:nvSpPr>
        <p:spPr>
          <a:xfrm>
            <a:off x="6492240" y="4242816"/>
            <a:ext cx="4800600" cy="566928"/>
          </a:xfrm>
          <a:prstGeom prst="rect">
            <a:avLst/>
          </a:prstGeom>
          <a:noFill/>
        </p:spPr>
        <p:txBody>
          <a:bodyPr wrap="none">
            <a:spAutoFit/>
          </a:bodyPr>
          <a:lstStyle/>
          <a:p>
            <a:pPr>
              <a:defRPr sz="1050">
                <a:solidFill>
                  <a:srgbClr val="68605B"/>
                </a:solidFill>
              </a:defRPr>
            </a:pPr>
            <a:r>
              <a:t>Distinctive feature gives the project a clear differentiating point.</a:t>
            </a:r>
          </a:p>
        </p:txBody>
      </p:sp>
      <p:sp>
        <p:nvSpPr>
          <p:cNvPr id="22" name="Rounded Rectangle 21"/>
          <p:cNvSpPr/>
          <p:nvPr/>
        </p:nvSpPr>
        <p:spPr>
          <a:xfrm>
            <a:off x="640080" y="5084064"/>
            <a:ext cx="10927080" cy="786384"/>
          </a:xfrm>
          <a:prstGeom prst="roundRect">
            <a:avLst/>
          </a:prstGeom>
          <a:solidFill>
            <a:srgbClr val="FFFFFF"/>
          </a:solidFill>
          <a:ln>
            <a:solidFill>
              <a:srgbClr val="E0D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93792"/>
            <a:ext cx="2240280" cy="530352"/>
          </a:xfrm>
          <a:prstGeom prst="rect">
            <a:avLst/>
          </a:prstGeom>
          <a:noFill/>
        </p:spPr>
        <p:txBody>
          <a:bodyPr wrap="none">
            <a:spAutoFit/>
          </a:bodyPr>
          <a:lstStyle/>
          <a:p>
            <a:pPr>
              <a:defRPr sz="1150" b="1">
                <a:solidFill>
                  <a:srgbClr val="C23921"/>
                </a:solidFill>
              </a:defRPr>
            </a:pPr>
            <a:r>
              <a:t>Presentation Skills</a:t>
            </a:r>
          </a:p>
        </p:txBody>
      </p:sp>
      <p:sp>
        <p:nvSpPr>
          <p:cNvPr id="24" name="TextBox 23"/>
          <p:cNvSpPr txBox="1"/>
          <p:nvPr/>
        </p:nvSpPr>
        <p:spPr>
          <a:xfrm>
            <a:off x="3154680" y="5193792"/>
            <a:ext cx="3246120" cy="530352"/>
          </a:xfrm>
          <a:prstGeom prst="rect">
            <a:avLst/>
          </a:prstGeom>
          <a:noFill/>
        </p:spPr>
        <p:txBody>
          <a:bodyPr wrap="none">
            <a:spAutoFit/>
          </a:bodyPr>
          <a:lstStyle/>
          <a:p>
            <a:pPr>
              <a:defRPr sz="1150" b="1">
                <a:solidFill>
                  <a:srgbClr val="2D2623"/>
                </a:solidFill>
              </a:defRPr>
            </a:pPr>
            <a:r>
              <a:t>Structured flow + visuals + live demo</a:t>
            </a:r>
          </a:p>
        </p:txBody>
      </p:sp>
      <p:sp>
        <p:nvSpPr>
          <p:cNvPr id="25" name="TextBox 24"/>
          <p:cNvSpPr txBox="1"/>
          <p:nvPr/>
        </p:nvSpPr>
        <p:spPr>
          <a:xfrm>
            <a:off x="6492240" y="5175504"/>
            <a:ext cx="4800600" cy="566928"/>
          </a:xfrm>
          <a:prstGeom prst="rect">
            <a:avLst/>
          </a:prstGeom>
          <a:noFill/>
        </p:spPr>
        <p:txBody>
          <a:bodyPr wrap="none">
            <a:spAutoFit/>
          </a:bodyPr>
          <a:lstStyle/>
          <a:p>
            <a:pPr>
              <a:defRPr sz="1050">
                <a:solidFill>
                  <a:srgbClr val="68605B"/>
                </a:solidFill>
              </a:defRPr>
            </a:pPr>
            <a:r>
              <a:t>Use the slide sequence to explain problem → solution → novelty → results.</a:t>
            </a:r>
          </a:p>
        </p:txBody>
      </p:sp>
      <p:sp>
        <p:nvSpPr>
          <p:cNvPr id="26" name="Rounded Rectangle 25"/>
          <p:cNvSpPr/>
          <p:nvPr/>
        </p:nvSpPr>
        <p:spPr>
          <a:xfrm>
            <a:off x="3931920" y="6080760"/>
            <a:ext cx="4343400" cy="475488"/>
          </a:xfrm>
          <a:prstGeom prst="round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77639" y="6172200"/>
            <a:ext cx="4251960" cy="274320"/>
          </a:xfrm>
          <a:prstGeom prst="rect">
            <a:avLst/>
          </a:prstGeom>
          <a:noFill/>
        </p:spPr>
        <p:txBody>
          <a:bodyPr wrap="none">
            <a:spAutoFit/>
          </a:bodyPr>
          <a:lstStyle/>
          <a:p>
            <a:pPr algn="ctr">
              <a:defRPr sz="1400" b="1">
                <a:solidFill>
                  <a:srgbClr val="FFFFFF"/>
                </a:solidFill>
              </a:defRPr>
            </a:pPr>
            <a:r>
              <a:t>TOTAL RUBRIC: 50 MARKS</a:t>
            </a:r>
          </a:p>
        </p:txBody>
      </p:sp>
      <p:sp>
        <p:nvSpPr>
          <p:cNvPr id="28" name="TextBox 27"/>
          <p:cNvSpPr txBox="1"/>
          <p:nvPr/>
        </p:nvSpPr>
        <p:spPr>
          <a:xfrm>
            <a:off x="10881360" y="6446520"/>
            <a:ext cx="640080" cy="228600"/>
          </a:xfrm>
          <a:prstGeom prst="rect">
            <a:avLst/>
          </a:prstGeom>
          <a:noFill/>
        </p:spPr>
        <p:txBody>
          <a:bodyPr wrap="none">
            <a:spAutoFit/>
          </a:bodyPr>
          <a:lstStyle/>
          <a:p>
            <a:pPr algn="r">
              <a:defRPr sz="900">
                <a:solidFill>
                  <a:srgbClr val="68605B"/>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2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143000"/>
            <a:ext cx="10515600" cy="731520"/>
          </a:xfrm>
          <a:prstGeom prst="rect">
            <a:avLst/>
          </a:prstGeom>
          <a:noFill/>
        </p:spPr>
        <p:txBody>
          <a:bodyPr wrap="none">
            <a:spAutoFit/>
          </a:bodyPr>
          <a:lstStyle/>
          <a:p>
            <a:pPr algn="ctr">
              <a:defRPr sz="4200" b="1">
                <a:solidFill>
                  <a:srgbClr val="FFFFFF"/>
                </a:solidFill>
                <a:latin typeface="Aptos Display"/>
              </a:defRPr>
            </a:pPr>
            <a:r>
              <a:t>Thank You</a:t>
            </a:r>
          </a:p>
        </p:txBody>
      </p:sp>
      <p:sp>
        <p:nvSpPr>
          <p:cNvPr id="4" name="TextBox 3"/>
          <p:cNvSpPr txBox="1"/>
          <p:nvPr/>
        </p:nvSpPr>
        <p:spPr>
          <a:xfrm>
            <a:off x="1280160" y="2148840"/>
            <a:ext cx="9601200" cy="640080"/>
          </a:xfrm>
          <a:prstGeom prst="rect">
            <a:avLst/>
          </a:prstGeom>
          <a:noFill/>
        </p:spPr>
        <p:txBody>
          <a:bodyPr wrap="none">
            <a:spAutoFit/>
          </a:bodyPr>
          <a:lstStyle/>
          <a:p>
            <a:pPr algn="ctr">
              <a:defRPr sz="2200" b="1">
                <a:solidFill>
                  <a:srgbClr val="FFDCC7"/>
                </a:solidFill>
              </a:defRPr>
            </a:pPr>
            <a:r>
              <a:t>FoodFlow — Online Food Delivery Platform</a:t>
            </a:r>
          </a:p>
        </p:txBody>
      </p:sp>
      <p:sp>
        <p:nvSpPr>
          <p:cNvPr id="5" name="TextBox 4"/>
          <p:cNvSpPr txBox="1"/>
          <p:nvPr/>
        </p:nvSpPr>
        <p:spPr>
          <a:xfrm>
            <a:off x="1828800" y="2971800"/>
            <a:ext cx="8503920" cy="822960"/>
          </a:xfrm>
          <a:prstGeom prst="rect">
            <a:avLst/>
          </a:prstGeom>
          <a:noFill/>
        </p:spPr>
        <p:txBody>
          <a:bodyPr wrap="none">
            <a:spAutoFit/>
          </a:bodyPr>
          <a:lstStyle/>
          <a:p>
            <a:pPr algn="ctr">
              <a:defRPr sz="1500">
                <a:solidFill>
                  <a:srgbClr val="DCD7D2"/>
                </a:solidFill>
              </a:defRPr>
            </a:pPr>
            <a:r>
              <a:t>A practical DBMS project designed around convenience, connectivity and collaborative ordering.</a:t>
            </a:r>
          </a:p>
        </p:txBody>
      </p:sp>
      <p:sp>
        <p:nvSpPr>
          <p:cNvPr id="6" name="TextBox 5"/>
          <p:cNvSpPr txBox="1"/>
          <p:nvPr/>
        </p:nvSpPr>
        <p:spPr>
          <a:xfrm>
            <a:off x="914400" y="4572000"/>
            <a:ext cx="10332720" cy="1005840"/>
          </a:xfrm>
          <a:prstGeom prst="rect">
            <a:avLst/>
          </a:prstGeom>
          <a:noFill/>
        </p:spPr>
        <p:txBody>
          <a:bodyPr wrap="none">
            <a:spAutoFit/>
          </a:bodyPr>
          <a:lstStyle/>
          <a:p>
            <a:pPr algn="ctr">
              <a:defRPr sz="1050">
                <a:solidFill>
                  <a:srgbClr val="BEB9B4"/>
                </a:solidFill>
              </a:defRPr>
            </a:pPr>
            <a:r>
              <a:t>Reference basis: online food-delivery architecture and project-presentation structures reviewed from public technical/project sources.</a:t>
            </a:r>
          </a:p>
          <a:p>
            <a:pPr algn="ctr">
              <a:defRPr sz="1050">
                <a:solidFill>
                  <a:srgbClr val="BEB9B4"/>
                </a:solidFill>
              </a:defRPr>
            </a:pPr>
            <a:r>
              <a:t>Project-specific content reflects the FoodFlow implementation discussed for this DBMS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