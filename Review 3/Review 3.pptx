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548640"/>
            <a:ext cx="2194560" cy="2194560"/>
          </a:xfrm>
          <a:prstGeom prst="ellipse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2103120"/>
            <a:ext cx="1554480" cy="1554480"/>
          </a:xfrm>
          <a:prstGeom prst="ellipse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55279" y="3200400"/>
            <a:ext cx="1828800" cy="1828800"/>
          </a:xfrm>
          <a:prstGeom prst="ellipse">
            <a:avLst/>
          </a:prstGeom>
          <a:solidFill>
            <a:srgbClr val="284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9DCD2"/>
                </a:solidFill>
                <a:latin typeface="Aptos"/>
              </a:rPr>
              <a:t>REVIEW 3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76656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Online Food
Delivery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971800"/>
            <a:ext cx="6400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DCE7F5"/>
                </a:solidFill>
                <a:latin typeface="Aptos"/>
              </a:rPr>
              <a:t>A full-stack platform for food ordering, real-time delivery coordination, and group ordering with live split bill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4983480"/>
            <a:ext cx="6126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Team 15  |  Section 13  |  Trimester 4, 2026–2027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394960"/>
            <a:ext cx="6949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2DEEE"/>
                </a:solidFill>
                <a:latin typeface="Aptos"/>
              </a:rPr>
              <a:t>Mosangi Vijaya Lakshmi  •  Potlabathini Shashanth  •  D Pawan Kumar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72200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ABED6"/>
                </a:solidFill>
                <a:latin typeface="Aptos"/>
              </a:rPr>
              <a:t>Database Systems Engineering and Distributed Backend Development (25CS1302E)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691"/>
                </a:solidFill>
                <a:latin typeface="Aptos"/>
              </a:rPr>
              <a:t>REVIEW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341"/>
                </a:solidFill>
                <a:latin typeface="Aptos"/>
              </a:rPr>
              <a:t>Problem Statement &amp;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6C7C"/>
                </a:solidFill>
                <a:latin typeface="Aptos"/>
              </a:rPr>
              <a:t>Why a unified digital food delivery workflow is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27632"/>
            <a:ext cx="11155680" cy="3200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5349240" cy="155448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965960"/>
            <a:ext cx="73152" cy="1554480"/>
          </a:xfrm>
          <a:prstGeom prst="rect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130552"/>
            <a:ext cx="50017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341"/>
                </a:solidFill>
                <a:latin typeface="Aptos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532888"/>
            <a:ext cx="49651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6303E"/>
                </a:solidFill>
                <a:latin typeface="Aptos"/>
              </a:rPr>
              <a:t>Phone-based ordering can lack centralized order visibility, live delivery updates, coordinated payments, and a shared group-order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65960"/>
            <a:ext cx="5349240" cy="155448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965960"/>
            <a:ext cx="73152" cy="155448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130552"/>
            <a:ext cx="50017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341"/>
                </a:solidFill>
                <a:latin typeface="Aptos"/>
              </a:rPr>
              <a:t>Proposed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532888"/>
            <a:ext cx="496519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6303E"/>
                </a:solidFill>
                <a:latin typeface="Aptos"/>
              </a:rPr>
              <a:t>A single web platform connecting customers, restaurant owners, delivery partners, and an administrator through a coordinated backend.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8862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2341"/>
                </a:solidFill>
                <a:latin typeface="Aptos"/>
              </a:rPr>
              <a:t>Project 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79392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6303E"/>
                </a:solidFill>
                <a:latin typeface="Aptos"/>
              </a:defRPr>
            </a:pPr>
            <a:r>
              <a:t>Enable customers to browse restaurants, select food, place orders, and pay online.</a:t>
            </a:r>
          </a:p>
          <a:p>
            <a:pPr>
              <a:spcAft>
                <a:spcPts val="500"/>
              </a:spcAft>
              <a:defRPr sz="1400">
                <a:solidFill>
                  <a:srgbClr val="26303E"/>
                </a:solidFill>
                <a:latin typeface="Aptos"/>
              </a:defRPr>
            </a:pPr>
            <a:r>
              <a:t>Allow restaurant owners to manage menus and incoming orders.</a:t>
            </a:r>
          </a:p>
          <a:p>
            <a:pPr>
              <a:spcAft>
                <a:spcPts val="500"/>
              </a:spcAft>
              <a:defRPr sz="1400">
                <a:solidFill>
                  <a:srgbClr val="26303E"/>
                </a:solidFill>
                <a:latin typeface="Aptos"/>
              </a:defRPr>
            </a:pPr>
            <a:r>
              <a:t>Support delivery assignment, live order status, and map-based tracking.</a:t>
            </a:r>
          </a:p>
          <a:p>
            <a:pPr>
              <a:spcAft>
                <a:spcPts val="500"/>
              </a:spcAft>
              <a:defRPr sz="1400">
                <a:solidFill>
                  <a:srgbClr val="26303E"/>
                </a:solidFill>
                <a:latin typeface="Aptos"/>
              </a:defRPr>
            </a:pPr>
            <a:r>
              <a:t>Introduce group ordering with a shared cart and participant-level bill splitting.</a:t>
            </a:r>
          </a:p>
          <a:p>
            <a:pPr>
              <a:spcAft>
                <a:spcPts val="500"/>
              </a:spcAft>
              <a:defRPr sz="1400">
                <a:solidFill>
                  <a:srgbClr val="26303E"/>
                </a:solidFill>
                <a:latin typeface="Aptos"/>
              </a:defRPr>
            </a:pPr>
            <a:r>
              <a:t>Provide an admin view for onboarding, commissions, and platform-wide order management.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967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6C7C"/>
                </a:solidFill>
                <a:latin typeface="Aptos"/>
              </a:rPr>
              <a:t>ONLINE FOOD DELIVERY PLATFORM  |  DATABASE SYSTEMS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2369B4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691"/>
                </a:solidFill>
                <a:latin typeface="Aptos"/>
              </a:rPr>
              <a:t>REVIEW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341"/>
                </a:solidFill>
                <a:latin typeface="Aptos"/>
              </a:rPr>
              <a:t>System Architecture &amp;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6C7C"/>
                </a:solidFill>
                <a:latin typeface="Aptos"/>
              </a:rPr>
              <a:t>A modular full-stack design with persistent data and real-time communication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27632"/>
            <a:ext cx="11155680" cy="3200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2148840" cy="960120"/>
          </a:xfrm>
          <a:prstGeom prst="roundRect">
            <a:avLst/>
          </a:prstGeom>
          <a:solidFill>
            <a:srgbClr val="EFF6FC"/>
          </a:solidFill>
          <a:ln>
            <a:solidFill>
              <a:srgbClr val="23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167128"/>
            <a:ext cx="19293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42341"/>
                </a:solidFill>
                <a:latin typeface="Aptos"/>
              </a:rPr>
              <a:t>React.js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496312"/>
            <a:ext cx="19293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6303E"/>
                </a:solidFill>
                <a:latin typeface="Aptos"/>
              </a:rPr>
              <a:t>Customer • Restaurant
Delivery • Admin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2057400"/>
            <a:ext cx="2148840" cy="960120"/>
          </a:xfrm>
          <a:prstGeom prst="roundRect">
            <a:avLst/>
          </a:prstGeom>
          <a:solidFill>
            <a:srgbClr val="EFF6FC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5848" y="2167128"/>
            <a:ext cx="19293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42341"/>
                </a:solidFill>
                <a:latin typeface="Aptos"/>
              </a:rPr>
              <a:t>Express.js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5848" y="2496312"/>
            <a:ext cx="19293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6303E"/>
                </a:solidFill>
                <a:latin typeface="Aptos"/>
              </a:rPr>
              <a:t>Authentication • Orders
Menus • Payments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2057400"/>
            <a:ext cx="2148840" cy="960120"/>
          </a:xfrm>
          <a:prstGeom prst="roundRect">
            <a:avLst/>
          </a:prstGeom>
          <a:solidFill>
            <a:srgbClr val="EFF6FC"/>
          </a:solidFill>
          <a:ln>
            <a:solidFill>
              <a:srgbClr val="EB8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07608" y="2167128"/>
            <a:ext cx="19293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42341"/>
                </a:solidFill>
                <a:latin typeface="Aptos"/>
              </a:rPr>
              <a:t>Node.js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7608" y="2496312"/>
            <a:ext cx="19293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6303E"/>
                </a:solidFill>
                <a:latin typeface="Aptos"/>
              </a:rPr>
              <a:t>Business logic
Socket.io events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2057400"/>
            <a:ext cx="2697480" cy="960120"/>
          </a:xfrm>
          <a:prstGeom prst="roundRect">
            <a:avLst/>
          </a:prstGeom>
          <a:solidFill>
            <a:srgbClr val="EFF6FC"/>
          </a:solidFill>
          <a:ln>
            <a:solidFill>
              <a:srgbClr val="2C9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59367" y="2167128"/>
            <a:ext cx="24780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42341"/>
                </a:solidFill>
                <a:latin typeface="Aptos"/>
              </a:rPr>
              <a:t>MySQL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9367" y="2496312"/>
            <a:ext cx="2478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6303E"/>
                </a:solidFill>
                <a:latin typeface="Aptos"/>
              </a:rPr>
              <a:t>Users • Restaurants • Items
Orders • Group sessions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816352" y="2350008"/>
            <a:ext cx="347472" cy="292608"/>
          </a:xfrm>
          <a:prstGeom prst="rightArrow">
            <a:avLst/>
          </a:prstGeom>
          <a:solidFill>
            <a:srgbClr val="5F6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5468112" y="2350008"/>
            <a:ext cx="347472" cy="292608"/>
          </a:xfrm>
          <a:prstGeom prst="rightArrow">
            <a:avLst/>
          </a:prstGeom>
          <a:solidFill>
            <a:srgbClr val="5F6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8119872" y="2350008"/>
            <a:ext cx="347472" cy="292608"/>
          </a:xfrm>
          <a:prstGeom prst="rightArrow">
            <a:avLst/>
          </a:prstGeom>
          <a:solidFill>
            <a:srgbClr val="5F6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3703320"/>
            <a:ext cx="3429000" cy="132588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03320"/>
            <a:ext cx="73152" cy="132588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867911"/>
            <a:ext cx="30815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Real-time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270248"/>
            <a:ext cx="30449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Aptos"/>
              </a:rPr>
              <a:t>Socket.io broadcasts order status and group-cart changes.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703320"/>
            <a:ext cx="3429000" cy="132588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3703320"/>
            <a:ext cx="73152" cy="1325880"/>
          </a:xfrm>
          <a:prstGeom prst="rect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0288" y="3867911"/>
            <a:ext cx="30815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Location services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4270248"/>
            <a:ext cx="30449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Aptos"/>
              </a:rPr>
              <a:t>Google Maps API supports map visualization and delivery tracking.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3703320"/>
            <a:ext cx="3429000" cy="132588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92440" y="3703320"/>
            <a:ext cx="73152" cy="1325880"/>
          </a:xfrm>
          <a:prstGeom prst="rect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93608" y="3867911"/>
            <a:ext cx="30815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Payment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3608" y="4270248"/>
            <a:ext cx="30449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Aptos"/>
              </a:rPr>
              <a:t>Razorpay integration is planned for secure payment flow and split-bill collection.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553212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C7C"/>
                </a:solidFill>
                <a:latin typeface="Aptos"/>
              </a:rPr>
              <a:t>Technology choices follow the submitted project abstract.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967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6C7C"/>
                </a:solidFill>
                <a:latin typeface="Aptos"/>
              </a:rPr>
              <a:t>ONLINE FOOD DELIVERY PLATFORM  |  DATABASE SYSTEMS ENGINEERING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2369B4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691"/>
                </a:solidFill>
                <a:latin typeface="Aptos"/>
              </a:rPr>
              <a:t>REVIEW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341"/>
                </a:solidFill>
                <a:latin typeface="Aptos"/>
              </a:rPr>
              <a:t>Methodology &amp; 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6C7C"/>
                </a:solidFill>
                <a:latin typeface="Aptos"/>
              </a:rPr>
              <a:t>How a food order moves through the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27632"/>
            <a:ext cx="11155680" cy="3200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58368" y="2039112"/>
            <a:ext cx="438912" cy="438912"/>
          </a:xfrm>
          <a:prstGeom prst="ellipse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084831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5295" y="1965960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341"/>
                </a:solidFill>
                <a:latin typeface="Aptos"/>
              </a:rPr>
              <a:t>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5295" y="2331720"/>
            <a:ext cx="2834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Aptos"/>
              </a:rPr>
              <a:t>Customer browses restaurants and menus.</a:t>
            </a:r>
          </a:p>
        </p:txBody>
      </p:sp>
      <p:sp>
        <p:nvSpPr>
          <p:cNvPr id="10" name="Oval 9"/>
          <p:cNvSpPr/>
          <p:nvPr/>
        </p:nvSpPr>
        <p:spPr>
          <a:xfrm>
            <a:off x="4453128" y="2039112"/>
            <a:ext cx="438912" cy="438912"/>
          </a:xfrm>
          <a:prstGeom prst="ellipse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3128" y="2084831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0056" y="1965960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341"/>
                </a:solidFill>
                <a:latin typeface="Aptos"/>
              </a:rPr>
              <a:t>Build 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0056" y="2331720"/>
            <a:ext cx="2834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Aptos"/>
              </a:rPr>
              <a:t>Customer selects items and confirms cart.</a:t>
            </a:r>
          </a:p>
        </p:txBody>
      </p:sp>
      <p:sp>
        <p:nvSpPr>
          <p:cNvPr id="14" name="Oval 13"/>
          <p:cNvSpPr/>
          <p:nvPr/>
        </p:nvSpPr>
        <p:spPr>
          <a:xfrm>
            <a:off x="8247888" y="2039112"/>
            <a:ext cx="438912" cy="438912"/>
          </a:xfrm>
          <a:prstGeom prst="ellipse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084831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14816" y="1965960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341"/>
                </a:solidFill>
                <a:latin typeface="Aptos"/>
              </a:rPr>
              <a:t>Checkout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14816" y="2331720"/>
            <a:ext cx="2834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Aptos"/>
              </a:rPr>
              <a:t>Order details and payment request are prepared.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3639312"/>
            <a:ext cx="438912" cy="438912"/>
          </a:xfrm>
          <a:prstGeom prst="ellipse">
            <a:avLst/>
          </a:prstGeom>
          <a:solidFill>
            <a:srgbClr val="2C9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685032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5" y="3566160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341"/>
                </a:solidFill>
                <a:latin typeface="Aptos"/>
              </a:rPr>
              <a:t>Restaurant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5295" y="3931920"/>
            <a:ext cx="2834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Aptos"/>
              </a:rPr>
              <a:t>Restaurant receives and processes the order.</a:t>
            </a:r>
          </a:p>
        </p:txBody>
      </p:sp>
      <p:sp>
        <p:nvSpPr>
          <p:cNvPr id="22" name="Oval 21"/>
          <p:cNvSpPr/>
          <p:nvPr/>
        </p:nvSpPr>
        <p:spPr>
          <a:xfrm>
            <a:off x="4453128" y="3639312"/>
            <a:ext cx="438912" cy="438912"/>
          </a:xfrm>
          <a:prstGeom prst="ellipse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53128" y="3685032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0056" y="3566160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341"/>
                </a:solidFill>
                <a:latin typeface="Aptos"/>
              </a:rPr>
              <a:t>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0056" y="3931920"/>
            <a:ext cx="2834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Aptos"/>
              </a:rPr>
              <a:t>Delivery partner fulfills the assigned order.</a:t>
            </a:r>
          </a:p>
        </p:txBody>
      </p:sp>
      <p:sp>
        <p:nvSpPr>
          <p:cNvPr id="26" name="Oval 25"/>
          <p:cNvSpPr/>
          <p:nvPr/>
        </p:nvSpPr>
        <p:spPr>
          <a:xfrm>
            <a:off x="8247888" y="3639312"/>
            <a:ext cx="438912" cy="438912"/>
          </a:xfrm>
          <a:prstGeom prst="ellipse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3685032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14816" y="3566160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341"/>
                </a:solidFill>
                <a:latin typeface="Aptos"/>
              </a:rPr>
              <a:t>Track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14816" y="3931920"/>
            <a:ext cx="2834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Aptos"/>
              </a:rPr>
              <a:t>Order status and location updates are shared.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486400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9691"/>
                </a:solidFill>
                <a:latin typeface="Aptos"/>
              </a:rPr>
              <a:t>Core process: request → validation → database update → real-time event → user-facing status.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967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6C7C"/>
                </a:solidFill>
                <a:latin typeface="Aptos"/>
              </a:rPr>
              <a:t>ONLINE FOOD DELIVERY PLATFORM  |  DATABASE SYSTEMS ENGINEERING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2369B4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691"/>
                </a:solidFill>
                <a:latin typeface="Aptos"/>
              </a:rPr>
              <a:t>REVIEW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341"/>
                </a:solidFill>
                <a:latin typeface="Aptos"/>
              </a:rPr>
              <a:t>Novelty: Group Ordering with Live Split Bill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6C7C"/>
                </a:solidFill>
                <a:latin typeface="Aptos"/>
              </a:rPr>
              <a:t>The key differentiator identified in the project abstract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27632"/>
            <a:ext cx="11155680" cy="3200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965960"/>
            <a:ext cx="3429000" cy="205740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73152" cy="205740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30815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341"/>
                </a:solidFill>
                <a:latin typeface="Aptos"/>
              </a:rPr>
              <a:t>Shared group cart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532888"/>
            <a:ext cx="304495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6303E"/>
                </a:solidFill>
                <a:latin typeface="Aptos"/>
              </a:rPr>
              <a:t>Multiple participants join one group order and add items to a common cart in real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65960"/>
            <a:ext cx="3429000" cy="205740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965960"/>
            <a:ext cx="73152" cy="2057400"/>
          </a:xfrm>
          <a:prstGeom prst="rect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130552"/>
            <a:ext cx="30815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341"/>
                </a:solidFill>
                <a:latin typeface="Aptos"/>
              </a:rPr>
              <a:t>Live synchronization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532888"/>
            <a:ext cx="304495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6303E"/>
                </a:solidFill>
                <a:latin typeface="Aptos"/>
              </a:rPr>
              <a:t>Socket.io can broadcast item additions, quantity changes, and group-order updates to participants.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965960"/>
            <a:ext cx="3429000" cy="205740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9872" y="1965960"/>
            <a:ext cx="73152" cy="2057400"/>
          </a:xfrm>
          <a:prstGeom prst="rect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130552"/>
            <a:ext cx="30815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341"/>
                </a:solidFill>
                <a:latin typeface="Aptos"/>
              </a:rPr>
              <a:t>Participant bill split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532888"/>
            <a:ext cx="304495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6303E"/>
                </a:solidFill>
                <a:latin typeface="Aptos"/>
              </a:rPr>
              <a:t>The total can be divided among participants, with payment collection integrated through Razorpay.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3891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341"/>
                </a:solidFill>
                <a:latin typeface="Aptos"/>
              </a:rPr>
              <a:t>Illustrative group-order sequence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19472"/>
            <a:ext cx="1600200" cy="658368"/>
          </a:xfrm>
          <a:prstGeom prst="roundRect">
            <a:avLst/>
          </a:prstGeom>
          <a:solidFill>
            <a:srgbClr val="EFF6FC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074920"/>
            <a:ext cx="1453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42341"/>
                </a:solidFill>
                <a:latin typeface="Aptos"/>
              </a:rPr>
              <a:t>Create group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4919472"/>
            <a:ext cx="1600200" cy="658368"/>
          </a:xfrm>
          <a:prstGeom prst="roundRect">
            <a:avLst/>
          </a:prstGeom>
          <a:solidFill>
            <a:srgbClr val="EFF6FC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07792" y="5074920"/>
            <a:ext cx="1453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42341"/>
                </a:solidFill>
                <a:latin typeface="Aptos"/>
              </a:rPr>
              <a:t>Join by link/code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66360" y="4919472"/>
            <a:ext cx="1600200" cy="658368"/>
          </a:xfrm>
          <a:prstGeom prst="roundRect">
            <a:avLst/>
          </a:prstGeom>
          <a:solidFill>
            <a:srgbClr val="EFF6FC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39512" y="5074920"/>
            <a:ext cx="1453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42341"/>
                </a:solidFill>
                <a:latin typeface="Aptos"/>
              </a:rPr>
              <a:t>Add items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78040" y="4919472"/>
            <a:ext cx="1600200" cy="658368"/>
          </a:xfrm>
          <a:prstGeom prst="roundRect">
            <a:avLst/>
          </a:prstGeom>
          <a:solidFill>
            <a:srgbClr val="EFF6FC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51192" y="5074920"/>
            <a:ext cx="1453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42341"/>
                </a:solidFill>
                <a:latin typeface="Aptos"/>
              </a:rPr>
              <a:t>Calculate shares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4919472"/>
            <a:ext cx="1600200" cy="658368"/>
          </a:xfrm>
          <a:prstGeom prst="roundRect">
            <a:avLst/>
          </a:prstGeom>
          <a:solidFill>
            <a:srgbClr val="EFF6FC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74920"/>
            <a:ext cx="1453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42341"/>
                </a:solidFill>
                <a:latin typeface="Aptos"/>
              </a:rPr>
              <a:t>Checkout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359152" y="5102352"/>
            <a:ext cx="329184" cy="228600"/>
          </a:xfrm>
          <a:prstGeom prst="rightArrow">
            <a:avLst/>
          </a:prstGeom>
          <a:solidFill>
            <a:srgbClr val="5F6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4663440" y="5102352"/>
            <a:ext cx="329184" cy="228600"/>
          </a:xfrm>
          <a:prstGeom prst="rightArrow">
            <a:avLst/>
          </a:prstGeom>
          <a:solidFill>
            <a:srgbClr val="5F6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ght Arrow 30"/>
          <p:cNvSpPr/>
          <p:nvPr/>
        </p:nvSpPr>
        <p:spPr>
          <a:xfrm>
            <a:off x="6675120" y="5102352"/>
            <a:ext cx="329184" cy="228600"/>
          </a:xfrm>
          <a:prstGeom prst="rightArrow">
            <a:avLst/>
          </a:prstGeom>
          <a:solidFill>
            <a:srgbClr val="5F6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Arrow 31"/>
          <p:cNvSpPr/>
          <p:nvPr/>
        </p:nvSpPr>
        <p:spPr>
          <a:xfrm>
            <a:off x="8732520" y="5102352"/>
            <a:ext cx="329184" cy="228600"/>
          </a:xfrm>
          <a:prstGeom prst="rightArrow">
            <a:avLst/>
          </a:prstGeom>
          <a:solidFill>
            <a:srgbClr val="5F6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870448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C7C"/>
                </a:solidFill>
                <a:latin typeface="Aptos"/>
              </a:rPr>
              <a:t>Evaluation focus: shared-cart consistency, correct bill calculation, and reliable updates across participants.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967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6C7C"/>
                </a:solidFill>
                <a:latin typeface="Aptos"/>
              </a:rPr>
              <a:t>ONLINE FOOD DELIVERY PLATFORM  |  DATABASE SYSTEMS ENGINEERING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2369B4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691"/>
                </a:solidFill>
                <a:latin typeface="Aptos"/>
              </a:rPr>
              <a:t>REVIEW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341"/>
                </a:solidFill>
                <a:latin typeface="Aptos"/>
              </a:rPr>
              <a:t>Modules, Adaptability &amp; Accessibility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6C7C"/>
                </a:solidFill>
                <a:latin typeface="Aptos"/>
              </a:rPr>
              <a:t>Designed to support different user roles and future extension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27632"/>
            <a:ext cx="11155680" cy="3200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2606040" cy="150876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73152" cy="1508760"/>
          </a:xfrm>
          <a:prstGeom prst="rect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084832"/>
            <a:ext cx="22585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Customer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487168"/>
            <a:ext cx="2221992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Aptos"/>
              </a:rPr>
              <a:t>Browse menus, cart, checkout, orders, tracking, and group ordering.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920240"/>
            <a:ext cx="2606040" cy="150876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920240"/>
            <a:ext cx="73152" cy="1508760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2084832"/>
            <a:ext cx="22585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Restaurant owner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487168"/>
            <a:ext cx="2221992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Aptos"/>
              </a:rPr>
              <a:t>Manage menu items and process incoming orders.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920240"/>
            <a:ext cx="2606040" cy="150876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920240"/>
            <a:ext cx="73152" cy="1508760"/>
          </a:xfrm>
          <a:prstGeom prst="rect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2084832"/>
            <a:ext cx="22585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Delivery partner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487168"/>
            <a:ext cx="2221992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Aptos"/>
              </a:rPr>
              <a:t>Receive delivery information and update order progress.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920240"/>
            <a:ext cx="2606040" cy="1508760"/>
          </a:xfrm>
          <a:prstGeom prst="roundRect">
            <a:avLst/>
          </a:prstGeom>
          <a:solidFill>
            <a:srgbClr val="EFF6FC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1920240"/>
            <a:ext cx="73152" cy="1508760"/>
          </a:xfrm>
          <a:prstGeom prst="rect">
            <a:avLst/>
          </a:prstGeom>
          <a:solidFill>
            <a:srgbClr val="2C9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8008" y="2084832"/>
            <a:ext cx="22585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Administrator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2487168"/>
            <a:ext cx="2221992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E"/>
                </a:solidFill>
                <a:latin typeface="Aptos"/>
              </a:rPr>
              <a:t>Oversee onboarding, commissions, and platform-wide orders.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88620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341"/>
                </a:solidFill>
                <a:latin typeface="Aptos"/>
              </a:rPr>
              <a:t>Adaptability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2519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Role-based modules can be expanded without redesigning the complete platform.</a:t>
            </a:r>
          </a:p>
          <a:p>
            <a:pPr>
              <a:spcAft>
                <a:spcPts val="50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REST API and database-backed records support adding restaurants, menu items, and delivery partners.</a:t>
            </a:r>
          </a:p>
          <a:p>
            <a:pPr>
              <a:spcAft>
                <a:spcPts val="50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Socket.io can support additional real-time events such as notifications and delivery updates.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886200"/>
            <a:ext cx="3383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341"/>
                </a:solidFill>
                <a:latin typeface="Aptos"/>
              </a:rPr>
              <a:t>Accessibility &amp; dissemination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251960"/>
            <a:ext cx="5166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Use clear navigation, readable labels, form validation, and responsive layouts.</a:t>
            </a:r>
          </a:p>
          <a:p>
            <a:pPr>
              <a:spcAft>
                <a:spcPts val="50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Provide a demo walkthrough, architecture diagram, setup guide, and test cases for reviewers.</a:t>
            </a:r>
          </a:p>
          <a:p>
            <a:pPr>
              <a:spcAft>
                <a:spcPts val="50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Use test credentials and sample records for a repeatable demonstration.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967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6C7C"/>
                </a:solidFill>
                <a:latin typeface="Aptos"/>
              </a:rPr>
              <a:t>ONLINE FOOD DELIVERY PLATFORM  |  DATABASE SYSTEMS ENGINEERING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2369B4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691"/>
                </a:solidFill>
                <a:latin typeface="Aptos"/>
              </a:rPr>
              <a:t>REVIEW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341"/>
                </a:solidFill>
                <a:latin typeface="Aptos"/>
              </a:rPr>
              <a:t>Methodology Evaluation &amp; Testing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6C7C"/>
                </a:solidFill>
                <a:latin typeface="Aptos"/>
              </a:rPr>
              <a:t>Use these checks to demonstrate reliability during Review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27632"/>
            <a:ext cx="11155680" cy="3200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938528"/>
            <a:ext cx="10881360" cy="530352"/>
          </a:xfrm>
          <a:prstGeom prst="rect">
            <a:avLst/>
          </a:prstGeom>
          <a:solidFill>
            <a:srgbClr val="EFF6FC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48256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341"/>
                </a:solidFill>
                <a:latin typeface="Aptos"/>
              </a:rPr>
              <a:t>Functional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2048256"/>
            <a:ext cx="8321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6303E"/>
                </a:solidFill>
                <a:latin typeface="Aptos"/>
              </a:rPr>
              <a:t>Register/login, restaurant listing, menu, cart, order placement, role workflows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505456"/>
            <a:ext cx="10881360" cy="530352"/>
          </a:xfrm>
          <a:prstGeom prst="rect">
            <a:avLst/>
          </a:prstGeom>
          <a:solidFill>
            <a:srgbClr val="FAFCFE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15184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341"/>
                </a:solidFill>
                <a:latin typeface="Aptos"/>
              </a:rPr>
              <a:t>Database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615184"/>
            <a:ext cx="8321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6303E"/>
                </a:solidFill>
                <a:latin typeface="Aptos"/>
              </a:rPr>
              <a:t>Confirm user, restaurant, menu, order, and group-order records persist correctly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72384"/>
            <a:ext cx="10881360" cy="530352"/>
          </a:xfrm>
          <a:prstGeom prst="rect">
            <a:avLst/>
          </a:prstGeom>
          <a:solidFill>
            <a:srgbClr val="EFF6FC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18211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341"/>
                </a:solidFill>
                <a:latin typeface="Aptos"/>
              </a:rPr>
              <a:t>Real-time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182112"/>
            <a:ext cx="8321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6303E"/>
                </a:solidFill>
                <a:latin typeface="Aptos"/>
              </a:rPr>
              <a:t>Verify order-status and shared-cart updates appear for connected participants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639312"/>
            <a:ext cx="10881360" cy="530352"/>
          </a:xfrm>
          <a:prstGeom prst="rect">
            <a:avLst/>
          </a:prstGeom>
          <a:solidFill>
            <a:srgbClr val="FAFCFE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49040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341"/>
                </a:solidFill>
                <a:latin typeface="Aptos"/>
              </a:rPr>
              <a:t>Payment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3749040"/>
            <a:ext cx="8321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6303E"/>
                </a:solidFill>
                <a:latin typeface="Aptos"/>
              </a:rPr>
              <a:t>Use Razorpay test mode/sandbox; verify success, failure, and status handling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206240"/>
            <a:ext cx="10881360" cy="530352"/>
          </a:xfrm>
          <a:prstGeom prst="rect">
            <a:avLst/>
          </a:prstGeom>
          <a:solidFill>
            <a:srgbClr val="EFF6FC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315968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341"/>
                </a:solidFill>
                <a:latin typeface="Aptos"/>
              </a:rPr>
              <a:t>Tracking 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4315968"/>
            <a:ext cx="8321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6303E"/>
                </a:solidFill>
                <a:latin typeface="Aptos"/>
              </a:rPr>
              <a:t>Verify map/location display and delivery status changes with test 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773168"/>
            <a:ext cx="10881360" cy="530352"/>
          </a:xfrm>
          <a:prstGeom prst="rect">
            <a:avLst/>
          </a:prstGeom>
          <a:solidFill>
            <a:srgbClr val="FAFCFE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882896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341"/>
                </a:solidFill>
                <a:latin typeface="Aptos"/>
              </a:rPr>
              <a:t>Usability 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882896"/>
            <a:ext cx="8321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6303E"/>
                </a:solidFill>
                <a:latin typeface="Aptos"/>
              </a:rPr>
              <a:t>Check navigation, error messages, mobile-width layout, and form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235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B8F37"/>
                </a:solidFill>
                <a:latin typeface="Aptos"/>
              </a:rPr>
              <a:t>Report actual test outcomes in the presentation; do not claim a test passed until it has been executed.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967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6C7C"/>
                </a:solidFill>
                <a:latin typeface="Aptos"/>
              </a:rPr>
              <a:t>ONLINE FOOD DELIVERY PLATFORM  |  DATABASE SYSTEMS ENGINEERING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2369B4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691"/>
                </a:solidFill>
                <a:latin typeface="Aptos"/>
              </a:rPr>
              <a:t>REVIEW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341"/>
                </a:solidFill>
                <a:latin typeface="Aptos"/>
              </a:rPr>
              <a:t>Implementation Evidence &amp; Review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6C7C"/>
                </a:solidFill>
                <a:latin typeface="Aptos"/>
              </a:rPr>
              <a:t>Add screenshots from your running application before presenting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27632"/>
            <a:ext cx="11155680" cy="32004"/>
          </a:xfrm>
          <a:prstGeom prst="rect">
            <a:avLst/>
          </a:prstGeom>
          <a:solidFill>
            <a:srgbClr val="0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3429000" cy="2057400"/>
          </a:xfrm>
          <a:prstGeom prst="roundRect">
            <a:avLst/>
          </a:prstGeom>
          <a:solidFill>
            <a:srgbClr val="F7FAFD"/>
          </a:solidFill>
          <a:ln w="19050">
            <a:solidFill>
              <a:srgbClr val="96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32888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369B4"/>
                </a:solidFill>
                <a:latin typeface="Aptos"/>
              </a:rPr>
              <a:t>SCREENSHOT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90088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F6C7C"/>
                </a:solidFill>
                <a:latin typeface="Aptos"/>
              </a:rPr>
              <a:t>Customer home / restaurant listing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65960"/>
            <a:ext cx="3429000" cy="2057400"/>
          </a:xfrm>
          <a:prstGeom prst="roundRect">
            <a:avLst/>
          </a:prstGeom>
          <a:solidFill>
            <a:srgbClr val="F7FAFD"/>
          </a:solidFill>
          <a:ln w="19050">
            <a:solidFill>
              <a:srgbClr val="96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532888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369B4"/>
                </a:solidFill>
                <a:latin typeface="Aptos"/>
              </a:rPr>
              <a:t>SCREENSHOT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990088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F6C7C"/>
                </a:solidFill>
                <a:latin typeface="Aptos"/>
              </a:rPr>
              <a:t>Restaurant menu / cart / checkout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965960"/>
            <a:ext cx="3429000" cy="2057400"/>
          </a:xfrm>
          <a:prstGeom prst="roundRect">
            <a:avLst/>
          </a:prstGeom>
          <a:solidFill>
            <a:srgbClr val="F7FAFD"/>
          </a:solidFill>
          <a:ln w="19050">
            <a:solidFill>
              <a:srgbClr val="96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2532888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369B4"/>
                </a:solidFill>
                <a:latin typeface="Aptos"/>
              </a:rPr>
              <a:t>SCREENSHOT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990088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F6C7C"/>
                </a:solidFill>
                <a:latin typeface="Aptos"/>
              </a:rPr>
              <a:t>Group order / admin dashboard /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3484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341"/>
                </a:solidFill>
                <a:latin typeface="Aptos"/>
              </a:rPr>
              <a:t>Suggested live demo order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800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Log in with a demo role and show the corresponding dashboard.</a:t>
            </a:r>
          </a:p>
          <a:p>
            <a:pPr>
              <a:spcAft>
                <a:spcPts val="40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Place a sample order and show the restaurant/delivery status flow.</a:t>
            </a:r>
          </a:p>
          <a:p>
            <a:pPr>
              <a:spcAft>
                <a:spcPts val="40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Create a group order, add items from two participants, and show the split calculation.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967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6C7C"/>
                </a:solidFill>
                <a:latin typeface="Aptos"/>
              </a:rPr>
              <a:t>ONLINE FOOD DELIVERY PLATFORM  |  DATABASE SYSTEMS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2369B4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35331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9DCD2"/>
                </a:solidFill>
                <a:latin typeface="Aptos"/>
              </a:rPr>
              <a:t>Review 3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The platform brings ordering, restaurant processing, delivery coordination, and group ordering into one connected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DEE8F4"/>
                </a:solidFill>
                <a:latin typeface="Aptos"/>
              </a:defRPr>
            </a:pPr>
            <a:r>
              <a:t>Complete and verify each role-based workflow.</a:t>
            </a:r>
          </a:p>
          <a:p>
            <a:pPr>
              <a:spcAft>
                <a:spcPts val="1000"/>
              </a:spcAft>
              <a:defRPr sz="1600">
                <a:solidFill>
                  <a:srgbClr val="DEE8F4"/>
                </a:solidFill>
                <a:latin typeface="Aptos"/>
              </a:defRPr>
            </a:pPr>
            <a:r>
              <a:t>Validate database consistency and real-time group-cart updates.</a:t>
            </a:r>
          </a:p>
          <a:p>
            <a:pPr>
              <a:spcAft>
                <a:spcPts val="1000"/>
              </a:spcAft>
              <a:defRPr sz="1600">
                <a:solidFill>
                  <a:srgbClr val="DEE8F4"/>
                </a:solidFill>
                <a:latin typeface="Aptos"/>
              </a:defRPr>
            </a:pPr>
            <a:r>
              <a:t>Test payment integration in sandbox mode and document outcomes.</a:t>
            </a:r>
          </a:p>
          <a:p>
            <a:pPr>
              <a:spcAft>
                <a:spcPts val="1000"/>
              </a:spcAft>
              <a:defRPr sz="1600">
                <a:solidFill>
                  <a:srgbClr val="DEE8F4"/>
                </a:solidFill>
                <a:latin typeface="Aptos"/>
              </a:defRPr>
            </a:pPr>
            <a:r>
              <a:t>Capture interface screenshots and prepare a repeatable live demonstration.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1500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69DCD2"/>
                </a:solidFill>
                <a:latin typeface="Aptos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617220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ECDE0"/>
                </a:solidFill>
                <a:latin typeface="Aptos"/>
              </a:rPr>
              <a:t>Questions &amp; Feedback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ECDE0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