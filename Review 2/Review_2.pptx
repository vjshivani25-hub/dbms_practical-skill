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966960" y="-320040"/>
            <a:ext cx="2560320" cy="2560320"/>
          </a:xfrm>
          <a:prstGeom prst="ellipse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98480" y="5212080"/>
            <a:ext cx="1828800" cy="1828800"/>
          </a:xfrm>
          <a:prstGeom prst="ellipse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486400"/>
            <a:ext cx="1920240" cy="1920240"/>
          </a:xfrm>
          <a:prstGeom prst="ellipse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B848"/>
                </a:solidFill>
              </a:defRPr>
            </a:pPr>
            <a:r>
              <a:t>REVIEW – 2 | 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9601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Online Food Delivery Platform</a:t>
            </a:r>
          </a:p>
          <a:p>
            <a:pPr>
              <a:defRPr sz="2300" b="1">
                <a:solidFill>
                  <a:srgbClr val="FFDCC7"/>
                </a:solidFill>
              </a:defRPr>
            </a:pPr>
            <a:r>
              <a:t>Literature Review, Gap Analysis &amp;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46120"/>
            <a:ext cx="8869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7D2"/>
                </a:solidFill>
              </a:defRPr>
            </a:pPr>
            <a:r>
              <a:t>Review focus: relevance • depth of literature • critical synthesis • research gap • project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800600"/>
            <a:ext cx="6583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</a:defRPr>
            </a:pPr>
            <a:r>
              <a:t>2520090201 – M Vijayalakshmi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</a:defRPr>
            </a:pPr>
            <a:r>
              <a:t>2520090211 – P Shashanth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</a:defRPr>
            </a:pPr>
            <a:r>
              <a:t>2520090102 – D Pawan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0"/>
            <a:ext cx="2011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500"/>
            </a:pPr>
            <a:r>
              <a:t>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1. Review–2 Evaluation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The presentation is structured to address all five 10-mark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82296" cy="786384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463039"/>
            <a:ext cx="10305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Relevance to Project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592" y="1738933"/>
            <a:ext cx="1024128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Literature directly supports an Online Food Delivery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82296" cy="786384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423160"/>
            <a:ext cx="10305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rPr dirty="0"/>
              <a:t>Depth &amp; Quality of Literature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34056"/>
            <a:ext cx="1024128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Use peer-reviewed systematic reviews and recent studies.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82296" cy="786384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383279"/>
            <a:ext cx="10305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Critical Analysis &amp;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75888"/>
            <a:ext cx="1024128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Compare findings across customer, restaurant, delivery and technology perspectives.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82296" cy="786384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343400"/>
            <a:ext cx="10305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Gap Analysis through Literature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1024128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Identify what existing research does not adequately integrate.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607" y="5138928"/>
            <a:ext cx="106984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82296" cy="786384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303520"/>
            <a:ext cx="10305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D2623"/>
                </a:solidFill>
              </a:defRPr>
            </a:pPr>
            <a:r>
              <a:t>Presentation Skills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92" y="5559552"/>
            <a:ext cx="10241280" cy="36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Clear progression: literature → synthesis → gap → proposed solution.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6144768"/>
            <a:ext cx="3291840" cy="320040"/>
          </a:xfrm>
          <a:prstGeom prst="roundRect">
            <a:avLst/>
          </a:prstGeom>
          <a:solidFill>
            <a:srgbClr val="FF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34840" y="6163055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C23921"/>
                </a:solidFill>
              </a:defRPr>
            </a:pPr>
            <a:r>
              <a:t>TARGET: 50 /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2. Relevance to the Project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Why the literature selected is directly connected to the proposed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82296" cy="192024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23921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54480"/>
            <a:ext cx="2642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Online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676" y="1931610"/>
            <a:ext cx="21637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Research examines online food delivery as a platform-enabled service connecting customers and food providers.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35608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82296" cy="192024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5544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1845B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8344" y="1554480"/>
            <a:ext cx="2642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Platform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0045" y="1907132"/>
            <a:ext cx="2007845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Literature treats OFD as an ecosystem involving customers, restaurants, delivery operations and platform coordination.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417320"/>
            <a:ext cx="82296" cy="192024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5544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F7E39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554480"/>
            <a:ext cx="2642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8662" y="1874520"/>
            <a:ext cx="1832241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Studies cover mobile apps, digital interfaces, real-time delivery operations, tracking and technology adoption.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Project title: Online Food Delivery Platform.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The literature therefore focuses on the same domain rather than unrelated food-service topics.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The project extends the domain into an integrated implementation with group ordering and split bill.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3. Literature Review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Major research streams identified in the 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Consumer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201217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TAM / UTAUT / TPB, perceived value, convenience, effort and performance expectancy.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82296" cy="178308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Platform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71964"/>
            <a:ext cx="216014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App design, interactivity, trust, service quality, security and satisfaction.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82296" cy="178308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Restaurant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842467"/>
            <a:ext cx="21508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Platform sales, restaurant participation, visibility and channel effects.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520440"/>
            <a:ext cx="82296" cy="178308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5760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Delivery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23360"/>
            <a:ext cx="212032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Assignment, routing, scheduling, dispatching and real-time operational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520440"/>
            <a:ext cx="82296" cy="178308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65760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D2623"/>
                </a:solidFill>
              </a:defRPr>
            </a:pPr>
            <a:r>
              <a:t>Social / group ordering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40192"/>
            <a:ext cx="198316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Social interaction, usefulness, convenience and motivations for group-order functions.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52044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65760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Emerging technology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971612"/>
            <a:ext cx="21508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Mobile platforms, AI, optimization, tracking and future delivery technologies.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4. Key Literature – Systematic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High-value sources selected for depth and research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82296" cy="196596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63039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Seghezzi, Winkenbach &amp; Mangiaracina (2021)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16459"/>
            <a:ext cx="3365293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Reviewed 59 papers from 2016–2020; emphasized an ecosystem view and highlighted gaps in restaurant operations, HR and logistics.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8605B"/>
                </a:solidFill>
              </a:defRPr>
            </a:pPr>
            <a:r>
              <a:t>International Journal of Logistics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25880"/>
            <a:ext cx="82296" cy="196596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39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Choi et al. (2022)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53183"/>
            <a:ext cx="340639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Systematic synthesis of OFD literature; identified TAM, UTAUT and TPB as prominent theories and noted the evolution from websites to mobile and newer technologies.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78892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8605B"/>
                </a:solidFill>
              </a:defRPr>
            </a:pPr>
            <a:r>
              <a:t>International Journal of Hospitality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657600"/>
            <a:ext cx="82296" cy="196596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Gao et al. (2022)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651" y="4154492"/>
            <a:ext cx="346768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Systematic literature review plus bibliometric/thematic analysis of OFD research; identified stakeholder complexity and future research themes.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206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8605B"/>
                </a:solidFill>
              </a:defRPr>
            </a:pPr>
            <a:r>
              <a:t>International Journal of Contemporary Hospitality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65760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657600"/>
            <a:ext cx="82296" cy="196596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Ashraf &amp; Bardhan (2025)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51979"/>
            <a:ext cx="3726029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Systematic review of order-fulfilment decision models; categorizes delivery/pre-delivery problems and notes growing use of optimization and machine learning.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206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68605B"/>
                </a:solidFill>
              </a:defRPr>
            </a:pPr>
            <a:r>
              <a:t>International Journal of Production 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5. Literature – Consumer Adoption &amp;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What makes customers adopt and continue using food-delivery platforms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82296" cy="182880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Meta-analytic evidence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33341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Performance expectancy, effort expectancy, social influence, facilitating conditions, interactivity and perceived risk are important. Perceived value influences intention, which connects to satisfaction, trust and loyalty.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182880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India–Spain adoption study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2"/>
            <a:ext cx="383294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A study of 422 users used the SOR model and PLS-SEM to examine intention and recommendation of online food delivery, showing the relevance of user attitudes and contextual factors.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2286000" cy="320040"/>
          </a:xfrm>
          <a:prstGeom prst="roundRect">
            <a:avLst/>
          </a:prstGeom>
          <a:solidFill>
            <a:srgbClr val="FF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C23921"/>
                </a:solidFill>
              </a:defRPr>
            </a:pPr>
            <a:r>
              <a:t>IMPLICATION FOR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241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Interface usability and convenience must be treated as core design requirements.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Secure payment, transparent status and useful information can strengthen trust.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The platform should not focus only on ordering; the complete user experience matters.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6. Literature – Restaurants &amp; Delivery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The platform must coordinate more than the customer-facing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82296" cy="306324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Restaurant 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14652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Research indicates online delivery platforms can affect restaurant sales and channel performance. Effects can differ by restaurant type and customer channel.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82296" cy="306324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Delivery perspective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93392"/>
            <a:ext cx="2255353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Recent reviews organize operational problems around assignment, routing, scheduling and dispatching. Optimization and machine learning are increasingly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2900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82296" cy="306324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Ecosystem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93392"/>
            <a:ext cx="2034992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Systematic reviews argue that customers, restaurants and delivery actors should be considered together rather than as isolated components.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C23921"/>
                </a:solidFill>
              </a:defRPr>
            </a:pPr>
            <a:r>
              <a:t>Project response: separate customer, restaurant and delivery workflows are connected through a common backend and real-time order lifecycle.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7. Literature – Group Ordering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A newer research direction directly supporting our differentiating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82296" cy="22402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Group-order adoption study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273405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Research on group-order functions in mobile food-delivery apps examined motivations using 792 survey responses. App usefulness and convenience were important in users’ commitment and intimacy with the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82296" cy="224028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Project 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93392"/>
            <a:ext cx="375687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The literature supports group ordering as a meaningful platform function. Our implementation adds a shared cart and split-bill workflow so participants can coordinate one order and divide the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82296" cy="123444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20299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Create group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82312"/>
            <a:ext cx="19659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Shared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41605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66160" y="4160520"/>
            <a:ext cx="82296" cy="123444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94760" y="4297680"/>
            <a:ext cx="20299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Add 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782312"/>
            <a:ext cx="19659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Member ownership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79" y="41605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79" y="4160520"/>
            <a:ext cx="82296" cy="123444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79" y="4297680"/>
            <a:ext cx="20299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Place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782312"/>
            <a:ext cx="19659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One checkout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3999" y="416052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3999" y="4160520"/>
            <a:ext cx="82296" cy="123444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72599" y="4297680"/>
            <a:ext cx="20299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Split bill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4782312"/>
            <a:ext cx="1965960" cy="484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Individual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8. Critical Analysis &amp;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What the studies collectively tell us — and where they differ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920240" cy="566928"/>
          </a:xfrm>
          <a:prstGeom prst="rect">
            <a:avLst/>
          </a:prstGeom>
          <a:solidFill>
            <a:srgbClr val="2D2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417320"/>
            <a:ext cx="1773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Research 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25880"/>
            <a:ext cx="2926080" cy="566928"/>
          </a:xfrm>
          <a:prstGeom prst="rect">
            <a:avLst/>
          </a:prstGeom>
          <a:solidFill>
            <a:srgbClr val="2D2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6312" y="1417320"/>
            <a:ext cx="2779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Strong finding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325880"/>
            <a:ext cx="3383280" cy="566928"/>
          </a:xfrm>
          <a:prstGeom prst="rect">
            <a:avLst/>
          </a:prstGeom>
          <a:solidFill>
            <a:srgbClr val="2D2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22392" y="1417320"/>
            <a:ext cx="32369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Limitation / 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325880"/>
            <a:ext cx="2971800" cy="566928"/>
          </a:xfrm>
          <a:prstGeom prst="rect">
            <a:avLst/>
          </a:prstGeom>
          <a:solidFill>
            <a:srgbClr val="2D262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05672" y="1417320"/>
            <a:ext cx="28254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Design implication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92807"/>
            <a:ext cx="1920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1984248"/>
            <a:ext cx="177393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 b="1">
                <a:solidFill>
                  <a:srgbClr val="C23921"/>
                </a:solidFill>
              </a:defRPr>
            </a:pPr>
            <a:r>
              <a:t>Consumer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1892807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96312" y="1984248"/>
            <a:ext cx="27797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Convenience, usefulness and perceived value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1892807"/>
            <a:ext cx="3383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22392" y="1984248"/>
            <a:ext cx="32369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Many studies are survey-based and measure intention rather than system-level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1892807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1984248"/>
            <a:ext cx="282549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Build a usable end-to-end workflow.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07208"/>
            <a:ext cx="192024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2898648"/>
            <a:ext cx="177393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 b="1">
                <a:solidFill>
                  <a:srgbClr val="C23921"/>
                </a:solidFill>
              </a:defRPr>
            </a:pPr>
            <a:r>
              <a:t>Platform experience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807208"/>
            <a:ext cx="292608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96312" y="2898648"/>
            <a:ext cx="27797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App design, interactivity, trust and security influence experience.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40" y="2807208"/>
            <a:ext cx="338328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22392" y="2898648"/>
            <a:ext cx="32369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Different theories and contexts produce fragmented explanations.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2807208"/>
            <a:ext cx="297180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05672" y="2898648"/>
            <a:ext cx="282549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Combine usability with secure transactions.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21608"/>
            <a:ext cx="1920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3813048"/>
            <a:ext cx="177393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 b="1">
                <a:solidFill>
                  <a:srgbClr val="C23921"/>
                </a:solidFill>
              </a:defRPr>
            </a:pPr>
            <a:r>
              <a:t>Restaurants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3721608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96312" y="3813048"/>
            <a:ext cx="27797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Delivery platforms can expand sales and reach.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721608"/>
            <a:ext cx="3383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22392" y="3813048"/>
            <a:ext cx="32369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Benefits vary by restaurant and channel.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3721608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05672" y="3813048"/>
            <a:ext cx="282549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Include restaurant-side management.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636008"/>
            <a:ext cx="192024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6072" y="4727448"/>
            <a:ext cx="177393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 b="1">
                <a:solidFill>
                  <a:srgbClr val="C23921"/>
                </a:solidFill>
              </a:defRPr>
            </a:pPr>
            <a:r>
              <a:t>Delivery operations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4636008"/>
            <a:ext cx="292608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96312" y="4727448"/>
            <a:ext cx="27797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Routing, assignment and dispatch are optimization problems.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49240" y="4636008"/>
            <a:ext cx="338328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22392" y="4727448"/>
            <a:ext cx="32369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Much work focuses on operations rather than integrated UX.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4636008"/>
            <a:ext cx="2971800" cy="914400"/>
          </a:xfrm>
          <a:prstGeom prst="rect">
            <a:avLst/>
          </a:prstGeom>
          <a:solidFill>
            <a:srgbClr val="F7F2EE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05672" y="4727448"/>
            <a:ext cx="282549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Connect operational status to customer experience.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550408"/>
            <a:ext cx="1920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6072" y="5641848"/>
            <a:ext cx="177393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 b="1">
                <a:solidFill>
                  <a:srgbClr val="C23921"/>
                </a:solidFill>
              </a:defRPr>
            </a:pPr>
            <a:r>
              <a:t>Group ordering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3160" y="5550408"/>
            <a:ext cx="29260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96312" y="5641848"/>
            <a:ext cx="27797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Usefulness, convenience and social interaction can motivate group orders.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5550408"/>
            <a:ext cx="338328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22392" y="5641848"/>
            <a:ext cx="323697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Less attention to practical split-payment workflows.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5550408"/>
            <a:ext cx="2971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05672" y="5641848"/>
            <a:ext cx="2825496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0">
                <a:solidFill>
                  <a:srgbClr val="2D2623"/>
                </a:solidFill>
              </a:defRPr>
            </a:pPr>
            <a:r>
              <a:t>Implement shared cart + split bill.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9. Research Gap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The gap is derived by comparing the themes across the reviewed literature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80160"/>
            <a:ext cx="82296" cy="77724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19"/>
            <a:ext cx="10396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Fragmented stakeholder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15083"/>
            <a:ext cx="1033272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Studies often focus on one actor or one problem; fewer student-level prototypes integrate customer, restaurant and delivery workflows in one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12848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212848"/>
            <a:ext cx="82296" cy="77724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50008"/>
            <a:ext cx="10396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Operational vs user experience divide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97480"/>
            <a:ext cx="1033272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Operations research emphasizes routing/assignment, while adoption research emphasizes attitudes and intentions. The two perspectives are not always integrated.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45536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145536"/>
            <a:ext cx="82296" cy="77724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10396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Group ordering implementation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87" y="3648456"/>
            <a:ext cx="1033272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Research is emerging on motivations for group orders, but practical shared-cart + member ownership + split-payment workflows receive less implementation attention.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91940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078224"/>
            <a:ext cx="82296" cy="77724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100584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Real-time integration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73872"/>
            <a:ext cx="968935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Tracking and real-time updates are important, but an integrated prototype combining ordering, payment, delivery status and group coordination remains a useful engineering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10912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5010912"/>
            <a:ext cx="82296" cy="77724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103967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D2623"/>
                </a:solidFill>
              </a:defRPr>
            </a:pPr>
            <a:r>
              <a:t>Academic implementation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332720" cy="27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There is value in translating literature findings into a demonstrable full-stack DBMS project with measurable modules and workflows.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10. Proposed Solution Based on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FoodFlow connects the literature findings into one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23921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508760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9339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Browse → cart → checkout →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82296" cy="178308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5087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1845B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508760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Restaurant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Menu → order acceptance → preparation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82296" cy="178308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15087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F7E39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1508760"/>
            <a:ext cx="2596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199339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Assignment → status → location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520440"/>
            <a:ext cx="82296" cy="178308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6576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5B848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657600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4223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Razorpay → transaction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520440"/>
            <a:ext cx="82296" cy="178308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6576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623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657600"/>
            <a:ext cx="259689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D2623"/>
                </a:solidFill>
              </a:defRPr>
            </a:pPr>
            <a:r>
              <a:t>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14223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Socket.IO → live order/group updates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2044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52044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58200" y="365760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23921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3657600"/>
            <a:ext cx="2596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Group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14223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Shared cart → member items → split bill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11. System Architecture &amp; Literature-to-Feature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Each major literature theme maps to a project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3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Usability &amp; platform experience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325880"/>
            <a:ext cx="82296" cy="178308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3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4767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Integrated backend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2588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325880"/>
            <a:ext cx="82296" cy="178308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46303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947672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Persistent transactional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474720"/>
            <a:ext cx="82296" cy="178308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1187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Socket.IO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96511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Real-time status &amp; group cart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474720"/>
            <a:ext cx="82296" cy="178308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61187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2D2623"/>
                </a:solidFill>
              </a:defRPr>
            </a:pPr>
            <a:r>
              <a:t>Google Maps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96511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Location visualization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3474720"/>
            <a:ext cx="82296" cy="178308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58200" y="3611879"/>
            <a:ext cx="30358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Razorpay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096511"/>
            <a:ext cx="297180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Secure payment / split payment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978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23921"/>
                </a:solidFill>
              </a:defRPr>
            </a:pPr>
            <a:r>
              <a:t>Literature → requirements → architecture → working modules → demonstrable 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12. Project Contribution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What our project contributes as an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920240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C23921"/>
                </a:solidFill>
              </a:defRPr>
            </a:pPr>
            <a:r>
              <a:t>Integrated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47672"/>
            <a:ext cx="416523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Combines customer, restaurant, delivery, admin, payment and real-time workflows in one prototype.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82296" cy="1920240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39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31845B"/>
                </a:solidFill>
              </a:defRPr>
            </a:pPr>
            <a:r>
              <a:t>Group Ordering + Split Bill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47672"/>
            <a:ext cx="4237507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A shared cart allows multiple participants to add items, track ownership and divide the final bill for individual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82296" cy="1920240"/>
          </a:xfrm>
          <a:prstGeom prst="rect">
            <a:avLst/>
          </a:prstGeom>
          <a:solidFill>
            <a:srgbClr val="EF7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EF7E39"/>
                </a:solidFill>
              </a:defRPr>
            </a:pPr>
            <a:r>
              <a:t>Real-time 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87952"/>
            <a:ext cx="414557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t>Socket.IO supports live order status, delivery-related updates and shared group-order synchronization.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66160"/>
            <a:ext cx="5257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82296" cy="1920240"/>
          </a:xfrm>
          <a:prstGeom prst="rect">
            <a:avLst/>
          </a:prstGeom>
          <a:solidFill>
            <a:srgbClr val="F5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4864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F5B848"/>
                </a:solidFill>
              </a:defRPr>
            </a:pPr>
            <a:r>
              <a:t>DBMS learning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87952"/>
            <a:ext cx="407291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2623"/>
                </a:solidFill>
              </a:defRPr>
            </a:pPr>
            <a:r>
              <a:rPr dirty="0"/>
              <a:t>MySQL models users, restaurants, menu items, orders, order items, payments, delivery and group-order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13. Expected Outcomes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How the project can be demonstrated in Review–2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Demonstrate that the project title is strongly grounded in current OFD literature.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Explain at least four major literature streams and compare their findings.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Clearly state the research/implementation gap instead of only describing existing systems.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Show how the proposed architecture responds to the identified gaps.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Demonstrate the novelty feature: Group Ordering with Split Bill.</a:t>
            </a:r>
          </a:p>
          <a:p>
            <a:pPr>
              <a:spcAft>
                <a:spcPts val="800"/>
              </a:spcAft>
              <a:defRPr sz="1500">
                <a:solidFill>
                  <a:srgbClr val="2D2623"/>
                </a:solidFill>
                <a:latin typeface="Aptos"/>
              </a:defRPr>
            </a:pPr>
            <a:r>
              <a:t>Use literature evidence to justify real-time updates, secure payments, tracking and multi-role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1828800" cy="320040"/>
          </a:xfrm>
          <a:prstGeom prst="roundRect">
            <a:avLst/>
          </a:prstGeom>
          <a:solidFill>
            <a:srgbClr val="FF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20" y="1435608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C23921"/>
                </a:solidFill>
              </a:defRPr>
            </a:pPr>
            <a:r>
              <a:t>PRESENTATION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874519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196596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32887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2624327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24327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Literature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191256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28269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82696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Synthesis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849624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3941063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41063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507992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4599431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9943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Solution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5166359"/>
            <a:ext cx="3337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0D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79" y="525779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3921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257799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2623"/>
                </a:solidFill>
              </a:defRPr>
            </a:pPr>
            <a:r>
              <a:t>Novelty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3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D2623"/>
                </a:solidFill>
                <a:latin typeface="Aptos Display"/>
              </a:defRPr>
            </a:pPr>
            <a:r>
              <a:t>14.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869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8605B"/>
                </a:solidFill>
                <a:latin typeface="Aptos"/>
              </a:defRPr>
            </a:pPr>
            <a:r>
              <a:t>Literature used for the Review–2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1. Seghezzi, A., Winkenbach, M., &amp; Mangiaracina, R. (2021). On-demand food delivery: A systematic literature review. The International Journal of Logistics Management, 32(4), 1334–1355. DOI: 10.1108/IJLM-03-2020-0150.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2. Online food delivery: A systematic synthesis of literature and a framework development. International Journal of Hospitality Management, 104 (2022), 103240. DOI: 10.1016/j.ijhm.2022.103240.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96896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3. Online food delivery research: a systematic literature review. International Journal of Contemporary Hospitality Management, 34(8) (2022), 2852–2883. DOI: 10.1108/IJCHM-10-2021-1273.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55264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4. Why do consumers choose online food delivery services? A meta-analytic review. International Journal of Hospitality Management, 123 (2024), 103921.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5. Decision models for order fulfillment processes of online food delivery platforms: a systematic review. International Journal of Production Research, 63(13) (2025), 4991–5029.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6. Hungry together or socially driven? Uncovering what sparks group orders and boosts repeat purchases on food apps. Journal of Hospitality and Tourism Insights, 9(4) (2025), 1836–1854.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30368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D2623"/>
                </a:solidFill>
              </a:defRPr>
            </a:pPr>
            <a:r>
              <a:t>7. Project Abstract Submission Form, Y25 – 2026–2027, Trimester 4, Sec. 13, Team 15 — project requirements and Group Ordering with Live Split Bill feature.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6080760"/>
            <a:ext cx="3840480" cy="320040"/>
          </a:xfrm>
          <a:prstGeom prst="roundRect">
            <a:avLst/>
          </a:prstGeom>
          <a:solidFill>
            <a:srgbClr val="FF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6099048"/>
            <a:ext cx="3840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C23921"/>
                </a:solidFill>
              </a:defRPr>
            </a:pPr>
            <a:r>
              <a:t>LITERATURE → GAP →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8605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DCC7"/>
                </a:solidFill>
              </a:defRPr>
            </a:pPr>
            <a:r>
              <a:t>Online Food Delivery Platform —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5468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DCD7D2"/>
                </a:solidFill>
              </a:defRPr>
            </a:pPr>
            <a:r>
              <a:t>Literature Review • Critical Synthesis • Research Gap • Group Ordering + Split Bill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1798</Words>
  <Application>Microsoft Office PowerPoint</Application>
  <PresentationFormat>Widescreen</PresentationFormat>
  <Paragraphs>227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mvijayalakshmi2007@outlook.com</cp:lastModifiedBy>
  <cp:revision>2</cp:revision>
  <dcterms:created xsi:type="dcterms:W3CDTF">2013-01-27T09:14:16Z</dcterms:created>
  <dcterms:modified xsi:type="dcterms:W3CDTF">2026-10-07T04:16:07Z</dcterms:modified>
  <cp:category/>
</cp:coreProperties>
</file>